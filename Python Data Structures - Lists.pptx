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33.png"/><Relationship Id="rId12" Type="http://schemas.openxmlformats.org/officeDocument/2006/relationships/image" Target="../media/image34.png"/><Relationship Id="rId13" Type="http://schemas.openxmlformats.org/officeDocument/2006/relationships/image" Target="../media/image35.png"/><Relationship Id="rId14" Type="http://schemas.openxmlformats.org/officeDocument/2006/relationships/image" Target="../media/image36.png"/><Relationship Id="rId15" Type="http://schemas.openxmlformats.org/officeDocument/2006/relationships/image" Target="../media/image37.png"/><Relationship Id="rId16" Type="http://schemas.openxmlformats.org/officeDocument/2006/relationships/image" Target="../media/image38.png"/><Relationship Id="rId17" Type="http://schemas.openxmlformats.org/officeDocument/2006/relationships/image" Target="../media/image39.png"/><Relationship Id="rId18" Type="http://schemas.openxmlformats.org/officeDocument/2006/relationships/image" Target="../media/image40.png"/><Relationship Id="rId19" Type="http://schemas.openxmlformats.org/officeDocument/2006/relationships/image" Target="../media/image41.png"/><Relationship Id="rId20" Type="http://schemas.openxmlformats.org/officeDocument/2006/relationships/image" Target="../media/image42.png"/><Relationship Id="rId21" Type="http://schemas.openxmlformats.org/officeDocument/2006/relationships/image" Target="../media/image43.png"/><Relationship Id="rId22" Type="http://schemas.openxmlformats.org/officeDocument/2006/relationships/image" Target="../media/image44.png"/><Relationship Id="rId23" Type="http://schemas.openxmlformats.org/officeDocument/2006/relationships/image" Target="../media/image45.png"/><Relationship Id="rId24" Type="http://schemas.openxmlformats.org/officeDocument/2006/relationships/image" Target="../media/image46.png"/><Relationship Id="rId25" Type="http://schemas.openxmlformats.org/officeDocument/2006/relationships/image" Target="../media/image47.png"/><Relationship Id="rId26" Type="http://schemas.openxmlformats.org/officeDocument/2006/relationships/image" Target="../media/image4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image" Target="../media/image56.png"/><Relationship Id="rId10" Type="http://schemas.openxmlformats.org/officeDocument/2006/relationships/image" Target="../media/image57.png"/><Relationship Id="rId11" Type="http://schemas.openxmlformats.org/officeDocument/2006/relationships/image" Target="../media/image58.png"/><Relationship Id="rId12" Type="http://schemas.openxmlformats.org/officeDocument/2006/relationships/image" Target="../media/image59.png"/><Relationship Id="rId13" Type="http://schemas.openxmlformats.org/officeDocument/2006/relationships/image" Target="../media/image60.png"/><Relationship Id="rId14" Type="http://schemas.openxmlformats.org/officeDocument/2006/relationships/image" Target="../media/image61.png"/><Relationship Id="rId15" Type="http://schemas.openxmlformats.org/officeDocument/2006/relationships/image" Target="../media/image62.png"/><Relationship Id="rId16" Type="http://schemas.openxmlformats.org/officeDocument/2006/relationships/image" Target="../media/image63.png"/><Relationship Id="rId17" Type="http://schemas.openxmlformats.org/officeDocument/2006/relationships/image" Target="../media/image64.png"/><Relationship Id="rId18" Type="http://schemas.openxmlformats.org/officeDocument/2006/relationships/image" Target="../media/image65.png"/><Relationship Id="rId19" Type="http://schemas.openxmlformats.org/officeDocument/2006/relationships/image" Target="../media/image66.png"/><Relationship Id="rId20" Type="http://schemas.openxmlformats.org/officeDocument/2006/relationships/image" Target="../media/image67.png"/><Relationship Id="rId21" Type="http://schemas.openxmlformats.org/officeDocument/2006/relationships/image" Target="../media/image68.png"/><Relationship Id="rId22" Type="http://schemas.openxmlformats.org/officeDocument/2006/relationships/image" Target="../media/image69.png"/><Relationship Id="rId23" Type="http://schemas.openxmlformats.org/officeDocument/2006/relationships/image" Target="../media/image70.png"/><Relationship Id="rId24" Type="http://schemas.openxmlformats.org/officeDocument/2006/relationships/image" Target="../media/image7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Relationship Id="rId6" Type="http://schemas.openxmlformats.org/officeDocument/2006/relationships/image" Target="../media/image75.png"/><Relationship Id="rId7" Type="http://schemas.openxmlformats.org/officeDocument/2006/relationships/image" Target="../media/image76.png"/><Relationship Id="rId8" Type="http://schemas.openxmlformats.org/officeDocument/2006/relationships/image" Target="../media/image77.png"/><Relationship Id="rId9" Type="http://schemas.openxmlformats.org/officeDocument/2006/relationships/image" Target="../media/image78.png"/><Relationship Id="rId10" Type="http://schemas.openxmlformats.org/officeDocument/2006/relationships/image" Target="../media/image79.png"/><Relationship Id="rId11" Type="http://schemas.openxmlformats.org/officeDocument/2006/relationships/image" Target="../media/image80.png"/><Relationship Id="rId12" Type="http://schemas.openxmlformats.org/officeDocument/2006/relationships/image" Target="../media/image81.png"/><Relationship Id="rId13" Type="http://schemas.openxmlformats.org/officeDocument/2006/relationships/image" Target="../media/image82.png"/><Relationship Id="rId14" Type="http://schemas.openxmlformats.org/officeDocument/2006/relationships/image" Target="../media/image83.png"/><Relationship Id="rId15" Type="http://schemas.openxmlformats.org/officeDocument/2006/relationships/image" Target="../media/image84.png"/><Relationship Id="rId16" Type="http://schemas.openxmlformats.org/officeDocument/2006/relationships/image" Target="../media/image85.png"/><Relationship Id="rId17" Type="http://schemas.openxmlformats.org/officeDocument/2006/relationships/image" Target="../media/image86.png"/><Relationship Id="rId18" Type="http://schemas.openxmlformats.org/officeDocument/2006/relationships/image" Target="../media/image87.png"/><Relationship Id="rId19" Type="http://schemas.openxmlformats.org/officeDocument/2006/relationships/image" Target="../media/image88.png"/><Relationship Id="rId20" Type="http://schemas.openxmlformats.org/officeDocument/2006/relationships/image" Target="../media/image89.png"/><Relationship Id="rId21" Type="http://schemas.openxmlformats.org/officeDocument/2006/relationships/image" Target="../media/image90.png"/><Relationship Id="rId22" Type="http://schemas.openxmlformats.org/officeDocument/2006/relationships/image" Target="../media/image91.png"/><Relationship Id="rId23" Type="http://schemas.openxmlformats.org/officeDocument/2006/relationships/image" Target="../media/image92.png"/><Relationship Id="rId24" Type="http://schemas.openxmlformats.org/officeDocument/2006/relationships/image" Target="../media/image93.png"/><Relationship Id="rId25" Type="http://schemas.openxmlformats.org/officeDocument/2006/relationships/image" Target="../media/image94.png"/><Relationship Id="rId26" Type="http://schemas.openxmlformats.org/officeDocument/2006/relationships/image" Target="../media/image95.png"/><Relationship Id="rId27" Type="http://schemas.openxmlformats.org/officeDocument/2006/relationships/image" Target="../media/image96.png"/><Relationship Id="rId28" Type="http://schemas.openxmlformats.org/officeDocument/2006/relationships/image" Target="../media/image9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1364902"/>
            <a:ext cx="4381500" cy="5029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6825" y="1364902"/>
            <a:ext cx="6648450" cy="5029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2069752"/>
            <a:ext cx="3981450" cy="78462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6850" y="2069752"/>
            <a:ext cx="6248400" cy="552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6850" y="2774602"/>
            <a:ext cx="6248400" cy="11144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76850" y="5270152"/>
            <a:ext cx="6248400" cy="8286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750" y="3006774"/>
            <a:ext cx="3981450" cy="67806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6750" y="3780085"/>
            <a:ext cx="3981450" cy="67806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6750" y="4553396"/>
            <a:ext cx="3981450" cy="67806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76850" y="4041427"/>
            <a:ext cx="3057525" cy="10953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67725" y="4041427"/>
            <a:ext cx="3057525" cy="10953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19725" y="5670202"/>
            <a:ext cx="5962650" cy="304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76875" y="3269902"/>
            <a:ext cx="1390650" cy="4191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62775" y="3269902"/>
            <a:ext cx="1390650" cy="4191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48675" y="3269902"/>
            <a:ext cx="1390650" cy="4191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934575" y="3269902"/>
            <a:ext cx="1390650" cy="4191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19725" y="4365277"/>
            <a:ext cx="2771775" cy="6477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66725" y="390525"/>
            <a:ext cx="11258550" cy="133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9EADC4"/>
                </a:solidFill>
                <a:latin typeface="Quicksand"/>
              </a:rPr>
              <a:t>01. DATA STRUCTURE FUNDAMENTALS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725" y="561975"/>
            <a:ext cx="11725275" cy="350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b="1" sz="2400" i="0" u="none">
                <a:solidFill>
                  <a:srgbClr val="FFFFFF"/>
                </a:solidFill>
                <a:latin typeface="Quicksand"/>
              </a:rPr>
              <a:t>Meet the </a:t>
            </a:r>
            <a:r>
              <a:rPr b="1" sz="2400" i="0" u="none">
                <a:solidFill>
                  <a:srgbClr val="B05CFF"/>
                </a:solidFill>
                <a:latin typeface="Quicksand"/>
              </a:rPr>
              <a:t>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725" y="950565"/>
            <a:ext cx="1125855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1125" i="0" u="none">
                <a:solidFill>
                  <a:srgbClr val="DCE3EF"/>
                </a:solidFill>
                <a:latin typeface="Quicksand Medium"/>
              </a:rPr>
              <a:t>“An ordered, mutable collection that stores multiple values.”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725" y="523875"/>
            <a:ext cx="76200" cy="76200"/>
          </a:xfrm>
          <a:prstGeom prst="roundRect">
            <a:avLst>
              <a:gd name="adj" fmla="val 25000"/>
            </a:avLst>
          </a:prstGeom>
          <a:solidFill>
            <a:srgbClr val="B0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6750" y="1564927"/>
            <a:ext cx="3981450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B05CFF"/>
                </a:solidFill>
                <a:latin typeface="Quicksand"/>
              </a:rPr>
              <a:t>01</a:t>
            </a:r>
            <a:r>
              <a:rPr b="1" sz="1125" i="0" u="none">
                <a:solidFill>
                  <a:srgbClr val="FFFFFF"/>
                </a:solidFill>
                <a:latin typeface="Quicksand"/>
              </a:rPr>
              <a:t>CORE IDEA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6850" y="1564927"/>
            <a:ext cx="6248400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B05CFF"/>
                </a:solidFill>
                <a:latin typeface="Quicksand"/>
              </a:rPr>
              <a:t>02</a:t>
            </a:r>
            <a:r>
              <a:rPr b="1" sz="1125" i="0" u="none">
                <a:solidFill>
                  <a:srgbClr val="FFFFFF"/>
                </a:solidFill>
                <a:latin typeface="Quicksand"/>
              </a:rPr>
              <a:t>LIST ANATOMY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619500" y="1564927"/>
            <a:ext cx="1028700" cy="2190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28675" y="2193577"/>
            <a:ext cx="3657600" cy="152400"/>
          </a:xfrm>
          <a:prstGeom prst="rect">
            <a:avLst/>
          </a:prstGeom>
          <a:noFill/>
        </p:spPr>
        <p:txBody>
          <a:bodyPr wrap="square" lIns="180975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ACF37"/>
                </a:solidFill>
                <a:latin typeface="Quicksand"/>
              </a:rPr>
              <a:t>ONE VARIABLE • MULTIPLE VALUES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675" y="2384077"/>
            <a:ext cx="3657600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DCE3EF"/>
                </a:solidFill>
                <a:latin typeface="Quicksand"/>
              </a:rPr>
              <a:t>A List allows you to group related data items into a single, manageable container object.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996487" y="1564927"/>
            <a:ext cx="1528762" cy="21907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419725" y="2184052"/>
            <a:ext cx="24669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1" u="none">
                <a:solidFill>
                  <a:srgbClr val="9EADC4"/>
                </a:solidFill>
                <a:latin typeface="Roboto Mono"/>
              </a:rPr>
              <a:t># Declaration of a heterogeneous list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2184052"/>
            <a:ext cx="533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52E28B"/>
                </a:solidFill>
                <a:latin typeface="Roboto Mono"/>
              </a:rPr>
              <a:t>"Vamshi"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53550" y="2184052"/>
            <a:ext cx="1333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FACF37"/>
                </a:solidFill>
                <a:latin typeface="Roboto Mono"/>
              </a:rPr>
              <a:t>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20250" y="2184052"/>
            <a:ext cx="266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52E28B"/>
                </a:solidFill>
                <a:latin typeface="Roboto Mono"/>
              </a:rPr>
              <a:t>"AI"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20300" y="2184052"/>
            <a:ext cx="266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FACF37"/>
                </a:solidFill>
                <a:latin typeface="Roboto Mono"/>
              </a:rPr>
              <a:t>8.94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19725" y="5393977"/>
            <a:ext cx="5962650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9EADC4"/>
                </a:solidFill>
                <a:latin typeface="Quicksand"/>
              </a:rPr>
              <a:t>LIST CONSTRUCTOR FUNCTION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28675" y="2212627"/>
            <a:ext cx="123825" cy="12382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28675" y="3111549"/>
            <a:ext cx="36766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9EADC4"/>
                </a:solidFill>
                <a:latin typeface="Quicksand"/>
              </a:rPr>
              <a:t>01</a:t>
            </a:r>
            <a:r>
              <a:rPr b="1" sz="975" i="0" u="none">
                <a:solidFill>
                  <a:srgbClr val="FFFFFF"/>
                </a:solidFill>
                <a:latin typeface="Quicksand"/>
              </a:rPr>
              <a:t> ORDERED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8675" y="3282999"/>
            <a:ext cx="3676650" cy="29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b="0" sz="900" i="0" u="none">
                <a:solidFill>
                  <a:srgbClr val="9EADC4"/>
                </a:solidFill>
                <a:latin typeface="Quicksand"/>
              </a:rPr>
              <a:t>Position/indexing is strictly preserved in memory. Insertion sequence remains fixed.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675" y="3884860"/>
            <a:ext cx="36766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9EADC4"/>
                </a:solidFill>
                <a:latin typeface="Quicksand"/>
              </a:rPr>
              <a:t>02</a:t>
            </a:r>
            <a:r>
              <a:rPr b="1" sz="975" i="0" u="none">
                <a:solidFill>
                  <a:srgbClr val="FFFFFF"/>
                </a:solidFill>
                <a:latin typeface="Quicksand"/>
              </a:rPr>
              <a:t> MUTABLE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8675" y="4056310"/>
            <a:ext cx="3676650" cy="29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b="0" sz="900" i="0" u="none">
                <a:solidFill>
                  <a:srgbClr val="9EADC4"/>
                </a:solidFill>
                <a:latin typeface="Quicksand"/>
              </a:rPr>
              <a:t>List elements can be modified, added, or removed in-place after creation without changing identity.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8675" y="4658171"/>
            <a:ext cx="36766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9EADC4"/>
                </a:solidFill>
                <a:latin typeface="Quicksand"/>
              </a:rPr>
              <a:t>03</a:t>
            </a:r>
            <a:r>
              <a:rPr b="1" sz="975" i="0" u="none">
                <a:solidFill>
                  <a:srgbClr val="FFFFFF"/>
                </a:solidFill>
                <a:latin typeface="Quicksand"/>
              </a:rPr>
              <a:t> HETEROGENEOUS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8675" y="4829621"/>
            <a:ext cx="3676650" cy="29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b="0" sz="900" i="0" u="none">
                <a:solidFill>
                  <a:srgbClr val="9EADC4"/>
                </a:solidFill>
                <a:latin typeface="Quicksand"/>
              </a:rPr>
              <a:t>Different data types (strings, integers, floats, booleans, objects) can freely coexist together.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76875" y="2974627"/>
            <a:ext cx="13906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27DAEF"/>
                </a:solidFill>
                <a:latin typeface="Roboto Mono SemiBold"/>
              </a:rPr>
              <a:t>index 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62775" y="2974627"/>
            <a:ext cx="13906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27DAEF"/>
                </a:solidFill>
                <a:latin typeface="Roboto Mono SemiBold"/>
              </a:rPr>
              <a:t>index 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48675" y="2974627"/>
            <a:ext cx="13906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27DAEF"/>
                </a:solidFill>
                <a:latin typeface="Roboto Mono SemiBold"/>
              </a:rPr>
              <a:t>index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34575" y="2974627"/>
            <a:ext cx="13906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27DAEF"/>
                </a:solidFill>
                <a:latin typeface="Roboto Mono SemiBold"/>
              </a:rPr>
              <a:t>index 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19725" y="4165252"/>
            <a:ext cx="2771775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9EADC4"/>
                </a:solidFill>
                <a:latin typeface="Quicksand"/>
              </a:rPr>
              <a:t>SQUARE-BRACKET SYNTAX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10600" y="4165252"/>
            <a:ext cx="2771775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9EADC4"/>
                </a:solidFill>
                <a:latin typeface="Quicksand"/>
              </a:rPr>
              <a:t>SINGLE-ITEM LIST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10600" y="4441477"/>
            <a:ext cx="2771775" cy="1361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b="0" sz="825" i="0" u="none">
                <a:solidFill>
                  <a:srgbClr val="DCE3EF"/>
                </a:solidFill>
                <a:latin typeface="Quicksand"/>
              </a:rPr>
              <a:t>Does </a:t>
            </a:r>
            <a:r>
              <a:rPr b="1" sz="825" i="0" u="none">
                <a:solidFill>
                  <a:srgbClr val="FACF37"/>
                </a:solidFill>
                <a:latin typeface="Quicksand"/>
              </a:rPr>
              <a:t>NOT</a:t>
            </a:r>
            <a:r>
              <a:rPr b="0" sz="825" i="0" u="none">
                <a:solidFill>
                  <a:srgbClr val="DCE3EF"/>
                </a:solidFill>
                <a:latin typeface="Quicksand"/>
              </a:rPr>
              <a:t> require a trailing comma (unlike tuples).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477500" y="5393977"/>
            <a:ext cx="904875" cy="219075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524500" y="5746402"/>
            <a:ext cx="266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B05CFF"/>
                </a:solidFill>
                <a:latin typeface="Roboto Mono SemiBold"/>
              </a:rPr>
              <a:t>list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24550" y="5746402"/>
            <a:ext cx="666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FACF37"/>
                </a:solidFill>
                <a:latin typeface="Roboto Mono"/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24575" y="5746402"/>
            <a:ext cx="666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FACF37"/>
                </a:solidFill>
                <a:latin typeface="Roboto Mono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24600" y="5746402"/>
            <a:ext cx="666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FACF37"/>
                </a:solidFill>
                <a:latin typeface="Roboto Mono"/>
              </a:rP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91300" y="5746402"/>
            <a:ext cx="16668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1" u="none">
                <a:solidFill>
                  <a:srgbClr val="9EADC4"/>
                </a:solidFill>
                <a:latin typeface="Roboto Mono"/>
              </a:rPr>
              <a:t># Converts iterable tuple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4850" y="5746402"/>
            <a:ext cx="7810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27DAEF"/>
                </a:solidFill>
                <a:latin typeface="Roboto Mono"/>
              </a:rPr>
              <a:t>→ [1, 2, 3]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048625" y="4179540"/>
            <a:ext cx="142875" cy="1143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391275" y="4612927"/>
            <a:ext cx="2000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52E28B"/>
                </a:solidFill>
                <a:latin typeface="Roboto Mono"/>
              </a:rPr>
              <a:t>"x"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24650" y="4612927"/>
            <a:ext cx="2000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52E28B"/>
                </a:solidFill>
                <a:latin typeface="Roboto Mono"/>
              </a:rPr>
              <a:t>"y"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839450" y="4165252"/>
            <a:ext cx="542925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1364902"/>
            <a:ext cx="5543550" cy="2762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725" y="1364902"/>
            <a:ext cx="5543550" cy="2762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25" y="4298602"/>
            <a:ext cx="5543550" cy="2095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1725" y="4298602"/>
            <a:ext cx="5543550" cy="2095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50" y="1917352"/>
            <a:ext cx="5143500" cy="647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750" y="2641252"/>
            <a:ext cx="5143500" cy="8763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1750" y="1917352"/>
            <a:ext cx="5143500" cy="647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1750" y="2641252"/>
            <a:ext cx="5143500" cy="4762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6750" y="4851052"/>
            <a:ext cx="5143500" cy="2762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6750" y="5184427"/>
            <a:ext cx="5143500" cy="2762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6750" y="5517802"/>
            <a:ext cx="5143500" cy="2762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53537" y="4851052"/>
            <a:ext cx="2271712" cy="971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1525" y="2927002"/>
            <a:ext cx="1190625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19300" y="2927002"/>
            <a:ext cx="1190625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67075" y="2927002"/>
            <a:ext cx="1190625" cy="304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14850" y="2927002"/>
            <a:ext cx="1190625" cy="304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66725" y="390525"/>
            <a:ext cx="11258550" cy="133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9EADC4"/>
                </a:solidFill>
                <a:latin typeface="Quicksand"/>
              </a:rPr>
              <a:t>02. SEQUENCE MANIPULATION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725" y="561975"/>
            <a:ext cx="11725275" cy="350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b="1" sz="2400" i="0" u="none">
                <a:solidFill>
                  <a:srgbClr val="FFFFFF"/>
                </a:solidFill>
                <a:latin typeface="Quicksand"/>
              </a:rPr>
              <a:t>Working with </a:t>
            </a:r>
            <a:r>
              <a:rPr b="1" sz="2400" i="0" u="none">
                <a:solidFill>
                  <a:srgbClr val="27DAEF"/>
                </a:solidFill>
                <a:latin typeface="Quicksand"/>
              </a:rPr>
              <a:t>LISTS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725" y="950565"/>
            <a:ext cx="1125855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1125" i="0" u="none">
                <a:solidFill>
                  <a:srgbClr val="DCE3EF"/>
                </a:solidFill>
                <a:latin typeface="Quicksand Medium"/>
              </a:rPr>
              <a:t>“Access, modify, slice and combine values inside a mutable sequence.”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725" y="523875"/>
            <a:ext cx="76200" cy="76200"/>
          </a:xfrm>
          <a:prstGeom prst="roundRect">
            <a:avLst>
              <a:gd name="adj" fmla="val 25000"/>
            </a:avLst>
          </a:prstGeom>
          <a:solidFill>
            <a:srgbClr val="B0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6750" y="1564927"/>
            <a:ext cx="5143500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B05CFF"/>
                </a:solidFill>
                <a:latin typeface="Quicksand"/>
              </a:rPr>
              <a:t>01</a:t>
            </a:r>
            <a:r>
              <a:rPr b="1" sz="1125" i="0" u="none">
                <a:solidFill>
                  <a:srgbClr val="FFFFFF"/>
                </a:solidFill>
                <a:latin typeface="Quicksand"/>
              </a:rPr>
              <a:t>INDEXING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750" y="3593752"/>
            <a:ext cx="51435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FFFFFF"/>
                </a:solidFill>
                <a:latin typeface="Roboto Mono"/>
              </a:rPr>
              <a:t>t[0] </a:t>
            </a:r>
            <a:r>
              <a:rPr b="0" sz="825" i="0" u="none">
                <a:solidFill>
                  <a:srgbClr val="52E28B"/>
                </a:solidFill>
                <a:latin typeface="Roboto Mono"/>
              </a:rPr>
              <a:t>→ "A"</a:t>
            </a:r>
            <a:r>
              <a:rPr b="0" sz="825" i="0" u="none">
                <a:solidFill>
                  <a:srgbClr val="FFFFFF"/>
                </a:solidFill>
                <a:latin typeface="Roboto Mono"/>
              </a:rPr>
              <a:t> </a:t>
            </a:r>
            <a:r>
              <a:rPr b="0" sz="825" i="0" u="none">
                <a:solidFill>
                  <a:srgbClr val="FFFFFF"/>
                </a:solidFill>
                <a:latin typeface="Roboto Mono"/>
              </a:rPr>
              <a:t>t[-1] </a:t>
            </a:r>
            <a:r>
              <a:rPr b="0" sz="825" i="0" u="none">
                <a:solidFill>
                  <a:srgbClr val="52E28B"/>
                </a:solidFill>
                <a:latin typeface="Roboto Mono"/>
              </a:rPr>
              <a:t>→ "D"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750" y="3793777"/>
            <a:ext cx="5143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9EADC4"/>
                </a:solidFill>
                <a:latin typeface="Quicksand"/>
              </a:rPr>
              <a:t>Positive starts at </a:t>
            </a:r>
            <a:r>
              <a:rPr b="1" sz="825" i="0" u="none">
                <a:solidFill>
                  <a:srgbClr val="27DAEF"/>
                </a:solidFill>
                <a:latin typeface="Quicksand"/>
              </a:rPr>
              <a:t>0</a:t>
            </a:r>
            <a:r>
              <a:rPr b="0" sz="825" i="0" u="none">
                <a:solidFill>
                  <a:srgbClr val="9EADC4"/>
                </a:solidFill>
                <a:latin typeface="Quicksand"/>
              </a:rPr>
              <a:t>. Negative starts at </a:t>
            </a:r>
            <a:r>
              <a:rPr b="1" sz="825" i="0" u="none">
                <a:solidFill>
                  <a:srgbClr val="FACF37"/>
                </a:solidFill>
                <a:latin typeface="Quicksand"/>
              </a:rPr>
              <a:t>-1</a:t>
            </a:r>
            <a:r>
              <a:rPr b="0" sz="825" i="0" u="none">
                <a:solidFill>
                  <a:srgbClr val="9EADC4"/>
                </a:solidFill>
                <a:latin typeface="Quicksand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1750" y="1564927"/>
            <a:ext cx="5143500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B05CFF"/>
                </a:solidFill>
                <a:latin typeface="Quicksand"/>
              </a:rPr>
              <a:t>02</a:t>
            </a:r>
            <a:r>
              <a:rPr b="1" sz="1125" i="0" u="none">
                <a:solidFill>
                  <a:srgbClr val="FFFFFF"/>
                </a:solidFill>
                <a:latin typeface="Quicksand"/>
              </a:rPr>
              <a:t>SLICING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750" y="4498627"/>
            <a:ext cx="5143500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B05CFF"/>
                </a:solidFill>
                <a:latin typeface="Quicksand"/>
              </a:rPr>
              <a:t>03</a:t>
            </a:r>
            <a:r>
              <a:rPr b="1" sz="1125" i="0" u="none">
                <a:solidFill>
                  <a:srgbClr val="FFFFFF"/>
                </a:solidFill>
                <a:latin typeface="Quicksand"/>
              </a:rPr>
              <a:t>OPERATORS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1750" y="4498627"/>
            <a:ext cx="5143500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B05CFF"/>
                </a:solidFill>
                <a:latin typeface="Quicksand"/>
              </a:rPr>
              <a:t>04</a:t>
            </a:r>
            <a:r>
              <a:rPr b="1" sz="1125" i="0" u="none">
                <a:solidFill>
                  <a:srgbClr val="FFFFFF"/>
                </a:solidFill>
                <a:latin typeface="Quicksand"/>
              </a:rPr>
              <a:t>ITERATION &amp; MUTATION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138737" y="1564927"/>
            <a:ext cx="671512" cy="21907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504950" y="2165002"/>
            <a:ext cx="2000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52E28B"/>
                </a:solidFill>
                <a:latin typeface="Roboto Mono"/>
              </a:rPr>
              <a:t>"A"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38325" y="2165002"/>
            <a:ext cx="2000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52E28B"/>
                </a:solidFill>
                <a:latin typeface="Roboto Mono"/>
              </a:rPr>
              <a:t>"B"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71700" y="2165002"/>
            <a:ext cx="2000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52E28B"/>
                </a:solidFill>
                <a:latin typeface="Roboto Mono"/>
              </a:rPr>
              <a:t>"C"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05075" y="2165002"/>
            <a:ext cx="2000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52E28B"/>
                </a:solidFill>
                <a:latin typeface="Roboto Mono"/>
              </a:rPr>
              <a:t>"D"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1525" y="2746027"/>
            <a:ext cx="49339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27DAEF"/>
                </a:solidFill>
                <a:latin typeface="Roboto Mono"/>
              </a:rPr>
              <a:t>0</a:t>
            </a:r>
            <a:r>
              <a:rPr b="1" sz="1200" i="0" u="none">
                <a:solidFill>
                  <a:srgbClr val="27DAEF"/>
                </a:solidFill>
                <a:latin typeface="Roboto Mono"/>
              </a:rPr>
              <a:t>1</a:t>
            </a:r>
            <a:r>
              <a:rPr b="1" sz="1200" i="0" u="none">
                <a:solidFill>
                  <a:srgbClr val="27DAEF"/>
                </a:solidFill>
                <a:latin typeface="Roboto Mono"/>
              </a:rPr>
              <a:t>2</a:t>
            </a:r>
            <a:r>
              <a:rPr b="1" sz="1200" i="0" u="none">
                <a:solidFill>
                  <a:srgbClr val="27DAEF"/>
                </a:solidFill>
                <a:latin typeface="Roboto Mono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1525" y="3269902"/>
            <a:ext cx="49339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ACF37"/>
                </a:solidFill>
                <a:latin typeface="Roboto Mono"/>
              </a:rPr>
              <a:t>-4</a:t>
            </a:r>
            <a:r>
              <a:rPr b="1" sz="1200" i="0" u="none">
                <a:solidFill>
                  <a:srgbClr val="FACF37"/>
                </a:solidFill>
                <a:latin typeface="Roboto Mono"/>
              </a:rPr>
              <a:t>-3</a:t>
            </a:r>
            <a:r>
              <a:rPr b="1" sz="1200" i="0" u="none">
                <a:solidFill>
                  <a:srgbClr val="FACF37"/>
                </a:solidFill>
                <a:latin typeface="Roboto Mono"/>
              </a:rPr>
              <a:t>-2</a:t>
            </a:r>
            <a:r>
              <a:rPr b="1" sz="1200" i="0" u="none">
                <a:solidFill>
                  <a:srgbClr val="FACF37"/>
                </a:solidFill>
                <a:latin typeface="Roboto Mono"/>
              </a:rPr>
              <a:t>-1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82300" y="1564927"/>
            <a:ext cx="742950" cy="21907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219950" y="2165002"/>
            <a:ext cx="1333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FACF37"/>
                </a:solidFill>
                <a:latin typeface="Roboto Mono"/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86650" y="2165002"/>
            <a:ext cx="1333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FACF37"/>
                </a:solidFill>
                <a:latin typeface="Roboto Mono"/>
              </a:rPr>
              <a:t>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53350" y="2165002"/>
            <a:ext cx="1333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FACF37"/>
                </a:solidFill>
                <a:latin typeface="Roboto Mono"/>
              </a:rPr>
              <a:t>30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20050" y="2165002"/>
            <a:ext cx="1333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FACF37"/>
                </a:solidFill>
                <a:latin typeface="Roboto Mono"/>
              </a:rPr>
              <a:t>40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86750" y="2165002"/>
            <a:ext cx="1333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FACF37"/>
                </a:solidFill>
                <a:latin typeface="Roboto Mono"/>
              </a:rPr>
              <a:t>50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8625" y="2793652"/>
            <a:ext cx="1524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EADC4"/>
                </a:solidFill>
                <a:latin typeface="Roboto Mono"/>
              </a:rPr>
              <a:t>10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91525" y="2746027"/>
            <a:ext cx="1123950" cy="2667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705975" y="2793652"/>
            <a:ext cx="1524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EADC4"/>
                </a:solidFill>
                <a:latin typeface="Roboto Mono"/>
              </a:rPr>
              <a:t>50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81750" y="3193702"/>
            <a:ext cx="51435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FFFFFF"/>
                </a:solidFill>
                <a:latin typeface="Roboto Mono"/>
              </a:rPr>
              <a:t>t[1:4] </a:t>
            </a:r>
            <a:r>
              <a:rPr b="0" sz="825" i="0" u="none">
                <a:solidFill>
                  <a:srgbClr val="52E28B"/>
                </a:solidFill>
                <a:latin typeface="Roboto Mono"/>
              </a:rPr>
              <a:t>→ [20, 30, 40]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81750" y="3365152"/>
            <a:ext cx="51435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FFFFFF"/>
                </a:solidFill>
                <a:latin typeface="Roboto Mono"/>
              </a:rPr>
              <a:t>t[::-1] </a:t>
            </a:r>
            <a:r>
              <a:rPr b="0" sz="825" i="0" u="none">
                <a:solidFill>
                  <a:srgbClr val="27DAEF"/>
                </a:solidFill>
                <a:latin typeface="Roboto Mono"/>
              </a:rPr>
              <a:t>→ [50, 40, 30, 20, 10]</a:t>
            </a:r>
            <a:r>
              <a:rPr b="0" sz="825" i="0" u="none">
                <a:solidFill>
                  <a:srgbClr val="FFFFFF"/>
                </a:solidFill>
                <a:latin typeface="Roboto Mono"/>
              </a:rPr>
              <a:t> </a:t>
            </a:r>
            <a:r>
              <a:rPr b="0" sz="825" i="0" u="none">
                <a:solidFill>
                  <a:srgbClr val="9EADC4"/>
                </a:solidFill>
                <a:latin typeface="Roboto Mono"/>
              </a:rPr>
              <a:t>(Reverse)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81750" y="3579465"/>
            <a:ext cx="104775" cy="104775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852987" y="4498627"/>
            <a:ext cx="957262" cy="219075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853737" y="4498627"/>
            <a:ext cx="671512" cy="219075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771525" y="4922490"/>
            <a:ext cx="9334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9EADC4"/>
                </a:solidFill>
                <a:latin typeface="Quicksand"/>
              </a:rPr>
              <a:t>Concatenation (+)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00500" y="4917727"/>
            <a:ext cx="17049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FFFFFF"/>
                </a:solidFill>
                <a:latin typeface="Roboto Mono"/>
              </a:rPr>
              <a:t>[1,2] + [3,4] </a:t>
            </a:r>
            <a:r>
              <a:rPr b="0" sz="825" i="0" u="none">
                <a:solidFill>
                  <a:srgbClr val="52E28B"/>
                </a:solidFill>
                <a:latin typeface="Roboto Mono"/>
              </a:rPr>
              <a:t>→ [1,2,3,4]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1525" y="5255865"/>
            <a:ext cx="6858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9EADC4"/>
                </a:solidFill>
                <a:latin typeface="Quicksand"/>
              </a:rPr>
              <a:t>Repetition (*)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67200" y="5251102"/>
            <a:ext cx="14382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FFFFFF"/>
                </a:solidFill>
                <a:latin typeface="Roboto Mono"/>
              </a:rPr>
              <a:t>[1,2] * 2 </a:t>
            </a:r>
            <a:r>
              <a:rPr b="0" sz="825" i="0" u="none">
                <a:solidFill>
                  <a:srgbClr val="27DAEF"/>
                </a:solidFill>
                <a:latin typeface="Roboto Mono"/>
              </a:rPr>
              <a:t>→ [1,2,1,2]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1525" y="5589240"/>
            <a:ext cx="8096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9EADC4"/>
                </a:solidFill>
                <a:latin typeface="Quicksand"/>
              </a:rPr>
              <a:t>Membership (in)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00550" y="5584477"/>
            <a:ext cx="13049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FFFFFF"/>
                </a:solidFill>
                <a:latin typeface="Roboto Mono"/>
              </a:rPr>
              <a:t>2 in [1,2,3] </a:t>
            </a:r>
            <a:r>
              <a:rPr b="0" sz="825" i="0" u="none">
                <a:solidFill>
                  <a:srgbClr val="FACF37"/>
                </a:solidFill>
                <a:latin typeface="Roboto Mono"/>
              </a:rPr>
              <a:t>→ True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81750" y="4851052"/>
            <a:ext cx="2776537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9EADC4"/>
                </a:solidFill>
                <a:latin typeface="Quicksand"/>
              </a:rPr>
              <a:t>FOR-LOOP TRAVERSAL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81750" y="5041552"/>
            <a:ext cx="2776537" cy="2667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381750" y="5346352"/>
            <a:ext cx="2776537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DCE3EF"/>
                </a:solidFill>
                <a:latin typeface="Quicksand"/>
              </a:rPr>
              <a:t>Iterates items sequentially.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160793" y="4936777"/>
            <a:ext cx="4572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B05CFF"/>
                </a:solidFill>
                <a:latin typeface="Roboto Mono"/>
              </a:rPr>
              <a:t>MUTATION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6018" y="5098702"/>
            <a:ext cx="6667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9EADC4"/>
                </a:solidFill>
                <a:latin typeface="Roboto Mono"/>
              </a:rPr>
              <a:t>t[1] = "X"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56006" y="5279677"/>
            <a:ext cx="866775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FF687F"/>
                </a:solidFill>
                <a:latin typeface="Roboto Mono"/>
              </a:rPr>
              <a:t>["A","B","C"]</a:t>
            </a:r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351293" y="5460652"/>
            <a:ext cx="76200" cy="9525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9956006" y="5594002"/>
            <a:ext cx="866775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52E28B"/>
                </a:solidFill>
                <a:latin typeface="Roboto Mono"/>
              </a:rPr>
              <a:t>["A","X","C"]</a:t>
            </a:r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600825" y="5127277"/>
            <a:ext cx="85725" cy="95250"/>
          </a:xfrm>
          <a:prstGeom prst="rect">
            <a:avLst/>
          </a:prstGeom>
        </p:spPr>
      </p:pic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867525" y="5127277"/>
            <a:ext cx="85725" cy="952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1364902"/>
            <a:ext cx="5905500" cy="4162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825" y="1364902"/>
            <a:ext cx="5124450" cy="4162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0850" y="1936402"/>
            <a:ext cx="4724400" cy="647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0850" y="2698402"/>
            <a:ext cx="4724400" cy="7143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0850" y="3527077"/>
            <a:ext cx="4724400" cy="7143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0850" y="4355752"/>
            <a:ext cx="4724400" cy="7143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6725" y="390525"/>
            <a:ext cx="11258550" cy="133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9EADC4"/>
                </a:solidFill>
                <a:latin typeface="Quicksand"/>
              </a:rPr>
              <a:t>03. BEHAVIORAL MATRIX &amp; IN-PLACE MODIFICATION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725" y="561975"/>
            <a:ext cx="11725275" cy="350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b="1" sz="2400" i="0" u="none">
                <a:solidFill>
                  <a:srgbClr val="FFFFFF"/>
                </a:solidFill>
                <a:latin typeface="Quicksand"/>
              </a:rPr>
              <a:t>The </a:t>
            </a:r>
            <a:r>
              <a:rPr b="1" sz="2400" i="0" u="none">
                <a:solidFill>
                  <a:srgbClr val="B05CFF"/>
                </a:solidFill>
                <a:latin typeface="Quicksand"/>
              </a:rPr>
              <a:t>POWER</a:t>
            </a:r>
            <a:r>
              <a:rPr b="1" sz="2400" i="0" u="none">
                <a:solidFill>
                  <a:srgbClr val="FFFFFF"/>
                </a:solidFill>
                <a:latin typeface="Quicksand"/>
              </a:rPr>
              <a:t> of a </a:t>
            </a:r>
            <a:r>
              <a:rPr b="1" sz="2400" i="0" u="none">
                <a:solidFill>
                  <a:srgbClr val="27DAEF"/>
                </a:solidFill>
                <a:latin typeface="Quicksand"/>
              </a:rPr>
              <a:t>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725" y="950565"/>
            <a:ext cx="1125855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1125" i="0" u="none">
                <a:solidFill>
                  <a:srgbClr val="DCE3EF"/>
                </a:solidFill>
                <a:latin typeface="Quicksand Medium"/>
              </a:rPr>
              <a:t>“Lists are ordered sequences designed to change as your program runs.”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725" y="523875"/>
            <a:ext cx="76200" cy="76200"/>
          </a:xfrm>
          <a:prstGeom prst="roundRect">
            <a:avLst>
              <a:gd name="adj" fmla="val 25000"/>
            </a:avLst>
          </a:prstGeom>
          <a:solidFill>
            <a:srgbClr val="B0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650" y="1526827"/>
            <a:ext cx="5581650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B05CFF"/>
                </a:solidFill>
                <a:latin typeface="Quicksand"/>
              </a:rPr>
              <a:t>01</a:t>
            </a:r>
            <a:r>
              <a:rPr b="1" sz="1125" i="0" u="none">
                <a:solidFill>
                  <a:srgbClr val="FFFFFF"/>
                </a:solidFill>
                <a:latin typeface="Quicksand"/>
              </a:rPr>
              <a:t>TECHNICAL CAPABILITIES MATRIX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8650" y="1841152"/>
          <a:ext cx="5581649" cy="2581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165746"/>
                <a:gridCol w="3415903"/>
              </a:tblGrid>
              <a:tr h="286808"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B05CFF"/>
                          </a:solidFill>
                          <a:latin typeface="Quicksand"/>
                        </a:rPr>
                        <a:t>Property / Operation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40E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B05CFF"/>
                          </a:solidFill>
                          <a:latin typeface="Quicksand"/>
                        </a:rPr>
                        <a:t>LIST [ ] Specification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40E1F"/>
                    </a:solidFill>
                  </a:tcPr>
                </a:tc>
              </a:tr>
              <a:tr h="286808">
                <a:tc>
                  <a:txBody>
                    <a:bodyPr/>
                    <a:lstStyle/>
                    <a:p>
                      <a:pPr algn="l"/>
                      <a:r>
                        <a:rPr b="1" sz="900" i="0" u="none">
                          <a:solidFill>
                            <a:srgbClr val="FFFFFF"/>
                          </a:solidFill>
                          <a:latin typeface="Quicksand"/>
                        </a:rPr>
                        <a:t>Ordering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52E28B"/>
                          </a:solidFill>
                          <a:latin typeface="Roboto Mono"/>
                        </a:rPr>
                        <a:t>Ordered (Sequence preserved)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86808">
                <a:tc>
                  <a:txBody>
                    <a:bodyPr/>
                    <a:lstStyle/>
                    <a:p>
                      <a:pPr algn="l"/>
                      <a:r>
                        <a:rPr b="1" sz="900" i="0" u="none">
                          <a:solidFill>
                            <a:srgbClr val="FFFFFF"/>
                          </a:solidFill>
                          <a:latin typeface="Quicksand"/>
                        </a:rPr>
                        <a:t>Mutability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52E28B"/>
                          </a:solidFill>
                          <a:latin typeface="Roboto Mono"/>
                        </a:rPr>
                        <a:t>Mutable (Elements editable in-place)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86808">
                <a:tc>
                  <a:txBody>
                    <a:bodyPr/>
                    <a:lstStyle/>
                    <a:p>
                      <a:pPr algn="l"/>
                      <a:r>
                        <a:rPr b="1" sz="900" i="0" u="none">
                          <a:solidFill>
                            <a:srgbClr val="FFFFFF"/>
                          </a:solidFill>
                          <a:latin typeface="Quicksand"/>
                        </a:rPr>
                        <a:t>Duplicate Values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27DAEF"/>
                          </a:solidFill>
                          <a:latin typeface="Roboto Mono"/>
                        </a:rPr>
                        <a:t>Allowed (e.g. [1, 1, 2])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86808">
                <a:tc>
                  <a:txBody>
                    <a:bodyPr/>
                    <a:lstStyle/>
                    <a:p>
                      <a:pPr algn="l"/>
                      <a:r>
                        <a:rPr b="1" sz="900" i="0" u="none">
                          <a:solidFill>
                            <a:srgbClr val="FFFFFF"/>
                          </a:solidFill>
                          <a:latin typeface="Quicksand"/>
                        </a:rPr>
                        <a:t>Indexing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27DAEF"/>
                          </a:solidFill>
                          <a:latin typeface="Roboto Mono"/>
                        </a:rPr>
                        <a:t>Supported — O(1) time complexity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86808">
                <a:tc>
                  <a:txBody>
                    <a:bodyPr/>
                    <a:lstStyle/>
                    <a:p>
                      <a:pPr algn="l"/>
                      <a:r>
                        <a:rPr b="1" sz="900" i="0" u="none">
                          <a:solidFill>
                            <a:srgbClr val="FFFFFF"/>
                          </a:solidFill>
                          <a:latin typeface="Quicksand"/>
                        </a:rPr>
                        <a:t>Slicing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27DAEF"/>
                          </a:solidFill>
                          <a:latin typeface="Roboto Mono"/>
                        </a:rPr>
                        <a:t>Supported — Returns new sublist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86808">
                <a:tc>
                  <a:txBody>
                    <a:bodyPr/>
                    <a:lstStyle/>
                    <a:p>
                      <a:pPr algn="l"/>
                      <a:r>
                        <a:rPr b="1" sz="900" i="0" u="none">
                          <a:solidFill>
                            <a:srgbClr val="FFFFFF"/>
                          </a:solidFill>
                          <a:latin typeface="Quicksand"/>
                        </a:rPr>
                        <a:t>Adding Elements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B05CFF"/>
                          </a:solidFill>
                          <a:latin typeface="Roboto Mono"/>
                        </a:rPr>
                        <a:t>append(), insert(), extend()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86808">
                <a:tc>
                  <a:txBody>
                    <a:bodyPr/>
                    <a:lstStyle/>
                    <a:p>
                      <a:pPr algn="l"/>
                      <a:r>
                        <a:rPr b="1" sz="900" i="0" u="none">
                          <a:solidFill>
                            <a:srgbClr val="FFFFFF"/>
                          </a:solidFill>
                          <a:latin typeface="Quicksand"/>
                        </a:rPr>
                        <a:t>Removing Elements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FF687F"/>
                          </a:solidFill>
                          <a:latin typeface="Roboto Mono"/>
                        </a:rPr>
                        <a:t>remove(), pop(), clear()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86811">
                <a:tc>
                  <a:txBody>
                    <a:bodyPr/>
                    <a:lstStyle/>
                    <a:p>
                      <a:pPr algn="l"/>
                      <a:r>
                        <a:rPr b="1" sz="900" i="0" u="none">
                          <a:solidFill>
                            <a:srgbClr val="FFFFFF"/>
                          </a:solidFill>
                          <a:latin typeface="Quicksand"/>
                        </a:rPr>
                        <a:t>Replacing Elements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FACF37"/>
                          </a:solidFill>
                          <a:latin typeface="Roboto Mono"/>
                        </a:rPr>
                        <a:t>numbers[0] = 100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800850" y="1564927"/>
            <a:ext cx="4724400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B05CFF"/>
                </a:solidFill>
                <a:latin typeface="Quicksand"/>
              </a:rPr>
              <a:t>02</a:t>
            </a:r>
            <a:r>
              <a:rPr b="1" sz="1125" i="0" u="none">
                <a:solidFill>
                  <a:srgbClr val="FFFFFF"/>
                </a:solidFill>
                <a:latin typeface="Quicksand"/>
              </a:rPr>
              <a:t>LIVE MUTATION TEST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5989290"/>
            <a:ext cx="133350" cy="1714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95350" y="5998815"/>
            <a:ext cx="68008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FFFFF"/>
                </a:solidFill>
                <a:latin typeface="Quicksand"/>
              </a:rPr>
              <a:t>TAKEAWAY: Use a </a:t>
            </a:r>
            <a:r>
              <a:rPr b="1" sz="975" i="0" u="none">
                <a:solidFill>
                  <a:srgbClr val="27DAEF"/>
                </a:solidFill>
                <a:latin typeface="Quicksand"/>
              </a:rPr>
              <a:t>LIST</a:t>
            </a:r>
            <a:r>
              <a:rPr b="1" sz="975" i="0" u="none">
                <a:solidFill>
                  <a:srgbClr val="FFFFFF"/>
                </a:solidFill>
                <a:latin typeface="Quicksand"/>
              </a:rPr>
              <a:t> when data needs to change, grow, shrink, or be reordered dynamically during execution.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4475" y="1526827"/>
            <a:ext cx="885825" cy="219075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28650" y="2117377"/>
            <a:ext cx="2165746" cy="19050"/>
          </a:xfrm>
          <a:prstGeom prst="rect">
            <a:avLst/>
          </a:prstGeom>
          <a:solidFill>
            <a:srgbClr val="364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94396" y="2117377"/>
            <a:ext cx="3415903" cy="19050"/>
          </a:xfrm>
          <a:prstGeom prst="rect">
            <a:avLst/>
          </a:prstGeom>
          <a:solidFill>
            <a:srgbClr val="364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53675" y="1564927"/>
            <a:ext cx="1171575" cy="21907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039100" y="2184052"/>
            <a:ext cx="1333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FACF37"/>
                </a:solidFill>
                <a:latin typeface="Roboto Mono"/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5800" y="2184052"/>
            <a:ext cx="1333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FACF37"/>
                </a:solidFill>
                <a:latin typeface="Roboto Mono"/>
              </a:rPr>
              <a:t>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2500" y="2184052"/>
            <a:ext cx="1333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FACF37"/>
                </a:solidFill>
                <a:latin typeface="Roboto Mono"/>
              </a:rPr>
              <a:t>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3725" y="2803177"/>
            <a:ext cx="4438650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00" i="0" u="none">
                <a:solidFill>
                  <a:srgbClr val="FACF37"/>
                </a:solidFill>
                <a:latin typeface="Roboto Mono"/>
              </a:rPr>
              <a:t>numbers[0] = 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3725" y="3631852"/>
            <a:ext cx="4438650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00" i="0" u="none">
                <a:solidFill>
                  <a:srgbClr val="B05CFF"/>
                </a:solidFill>
                <a:latin typeface="Roboto Mono"/>
              </a:rPr>
              <a:t>numbers.append(40)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3725" y="4460527"/>
            <a:ext cx="4438650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00" i="0" u="none">
                <a:solidFill>
                  <a:srgbClr val="FF687F"/>
                </a:solidFill>
                <a:latin typeface="Roboto Mono"/>
              </a:rPr>
              <a:t>numbers.pop()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8650" y="2417415"/>
            <a:ext cx="2165746" cy="9525"/>
          </a:xfrm>
          <a:prstGeom prst="rect">
            <a:avLst/>
          </a:prstGeom>
          <a:solidFill>
            <a:srgbClr val="1C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94396" y="2417415"/>
            <a:ext cx="3415903" cy="9525"/>
          </a:xfrm>
          <a:prstGeom prst="rect">
            <a:avLst/>
          </a:prstGeom>
          <a:solidFill>
            <a:srgbClr val="1C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8650" y="2703165"/>
            <a:ext cx="2165746" cy="9525"/>
          </a:xfrm>
          <a:prstGeom prst="rect">
            <a:avLst/>
          </a:prstGeom>
          <a:solidFill>
            <a:srgbClr val="1C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94396" y="2703165"/>
            <a:ext cx="3415903" cy="9525"/>
          </a:xfrm>
          <a:prstGeom prst="rect">
            <a:avLst/>
          </a:prstGeom>
          <a:solidFill>
            <a:srgbClr val="1C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8650" y="2988915"/>
            <a:ext cx="2165746" cy="9525"/>
          </a:xfrm>
          <a:prstGeom prst="rect">
            <a:avLst/>
          </a:prstGeom>
          <a:solidFill>
            <a:srgbClr val="1C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94396" y="2988915"/>
            <a:ext cx="3415903" cy="9525"/>
          </a:xfrm>
          <a:prstGeom prst="rect">
            <a:avLst/>
          </a:prstGeom>
          <a:solidFill>
            <a:srgbClr val="1C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8650" y="3274665"/>
            <a:ext cx="2165746" cy="9525"/>
          </a:xfrm>
          <a:prstGeom prst="rect">
            <a:avLst/>
          </a:prstGeom>
          <a:solidFill>
            <a:srgbClr val="1C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94396" y="3274665"/>
            <a:ext cx="3415903" cy="9525"/>
          </a:xfrm>
          <a:prstGeom prst="rect">
            <a:avLst/>
          </a:prstGeom>
          <a:solidFill>
            <a:srgbClr val="1C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8650" y="3560415"/>
            <a:ext cx="2165746" cy="9525"/>
          </a:xfrm>
          <a:prstGeom prst="rect">
            <a:avLst/>
          </a:prstGeom>
          <a:solidFill>
            <a:srgbClr val="1C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94396" y="3560415"/>
            <a:ext cx="3415903" cy="9525"/>
          </a:xfrm>
          <a:prstGeom prst="rect">
            <a:avLst/>
          </a:prstGeom>
          <a:solidFill>
            <a:srgbClr val="1C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8650" y="3846165"/>
            <a:ext cx="2165746" cy="9525"/>
          </a:xfrm>
          <a:prstGeom prst="rect">
            <a:avLst/>
          </a:prstGeom>
          <a:solidFill>
            <a:srgbClr val="1C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94396" y="3846165"/>
            <a:ext cx="3415903" cy="9525"/>
          </a:xfrm>
          <a:prstGeom prst="rect">
            <a:avLst/>
          </a:prstGeom>
          <a:solidFill>
            <a:srgbClr val="1C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8650" y="4131915"/>
            <a:ext cx="2165746" cy="9525"/>
          </a:xfrm>
          <a:prstGeom prst="rect">
            <a:avLst/>
          </a:prstGeom>
          <a:solidFill>
            <a:srgbClr val="1C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94396" y="4131915"/>
            <a:ext cx="3415903" cy="9525"/>
          </a:xfrm>
          <a:prstGeom prst="rect">
            <a:avLst/>
          </a:prstGeom>
          <a:solidFill>
            <a:srgbClr val="1C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72725" y="2803177"/>
            <a:ext cx="1009650" cy="219075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43725" y="3079402"/>
            <a:ext cx="438150" cy="2286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39025" y="3079402"/>
            <a:ext cx="438150" cy="22860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34325" y="3079402"/>
            <a:ext cx="438150" cy="22860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29625" y="3146077"/>
            <a:ext cx="85725" cy="9525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72500" y="3079402"/>
            <a:ext cx="504825" cy="22860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34475" y="3079402"/>
            <a:ext cx="438150" cy="22860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29775" y="3079402"/>
            <a:ext cx="438150" cy="22860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506075" y="3631852"/>
            <a:ext cx="876300" cy="219075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943725" y="3908077"/>
            <a:ext cx="504825" cy="228600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05700" y="3908077"/>
            <a:ext cx="438150" cy="228600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01000" y="3908077"/>
            <a:ext cx="438150" cy="228600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96300" y="3974752"/>
            <a:ext cx="85725" cy="95250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639175" y="3908077"/>
            <a:ext cx="504825" cy="228600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01150" y="3908077"/>
            <a:ext cx="438150" cy="228600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696450" y="3908077"/>
            <a:ext cx="438150" cy="228600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191750" y="3908077"/>
            <a:ext cx="438150" cy="228600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372725" y="4460527"/>
            <a:ext cx="1009650" cy="219075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943725" y="4736752"/>
            <a:ext cx="504825" cy="228600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05700" y="4736752"/>
            <a:ext cx="438150" cy="228600"/>
          </a:xfrm>
          <a:prstGeom prst="rect">
            <a:avLst/>
          </a:prstGeom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01000" y="4736752"/>
            <a:ext cx="438150" cy="228600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496300" y="4736752"/>
            <a:ext cx="438150" cy="228600"/>
          </a:xfrm>
          <a:prstGeom prst="rect">
            <a:avLst/>
          </a:prstGeom>
        </p:spPr>
      </p:pic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91600" y="4803427"/>
            <a:ext cx="85725" cy="95250"/>
          </a:xfrm>
          <a:prstGeom prst="rect">
            <a:avLst/>
          </a:prstGeom>
        </p:spPr>
      </p:pic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34475" y="4736752"/>
            <a:ext cx="504825" cy="228600"/>
          </a:xfrm>
          <a:prstGeom prst="rect">
            <a:avLst/>
          </a:prstGeom>
        </p:spPr>
      </p:pic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696450" y="4736752"/>
            <a:ext cx="438150" cy="228600"/>
          </a:xfrm>
          <a:prstGeom prst="rect">
            <a:avLst/>
          </a:prstGeom>
        </p:spPr>
      </p:pic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191750" y="4736752"/>
            <a:ext cx="43815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1364902"/>
            <a:ext cx="5543550" cy="2647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725" y="1364902"/>
            <a:ext cx="5543550" cy="1190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725" y="2688877"/>
            <a:ext cx="5543550" cy="10763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1725" y="3898552"/>
            <a:ext cx="5543550" cy="20097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3555652"/>
            <a:ext cx="5257800" cy="3143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725" y="4146202"/>
            <a:ext cx="2724150" cy="1362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86125" y="4146202"/>
            <a:ext cx="2724150" cy="1362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4600" y="3050827"/>
            <a:ext cx="5257800" cy="4476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4600" y="5565427"/>
            <a:ext cx="5257800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1803052"/>
            <a:ext cx="2600325" cy="381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67075" y="1803052"/>
            <a:ext cx="2600325" cy="381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" y="2241202"/>
            <a:ext cx="2600325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67075" y="2241202"/>
            <a:ext cx="2600325" cy="3810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2679352"/>
            <a:ext cx="2600325" cy="3810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67075" y="2679352"/>
            <a:ext cx="2600325" cy="3810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3117502"/>
            <a:ext cx="2600325" cy="3810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67075" y="3117502"/>
            <a:ext cx="2600325" cy="3810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0550" y="4451002"/>
            <a:ext cx="2476500" cy="6667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09950" y="4451002"/>
            <a:ext cx="2476500" cy="523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24600" y="4250977"/>
            <a:ext cx="2600325" cy="2571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82075" y="4250977"/>
            <a:ext cx="2600325" cy="2571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24600" y="4565302"/>
            <a:ext cx="2600325" cy="2571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982075" y="4565302"/>
            <a:ext cx="2600325" cy="2571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24600" y="1907827"/>
            <a:ext cx="2590800" cy="5238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991600" y="1907827"/>
            <a:ext cx="2590800" cy="52387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66725" y="390525"/>
            <a:ext cx="11258550" cy="133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9EADC4"/>
                </a:solidFill>
                <a:latin typeface="Quicksand"/>
              </a:rPr>
              <a:t>04. ADVANCED CONCEPTS &amp; PRACTICAL APPLICATIONS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725" y="561975"/>
            <a:ext cx="11725275" cy="350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b="1" sz="2400" i="0" u="none">
                <a:solidFill>
                  <a:srgbClr val="FFFFFF"/>
                </a:solidFill>
                <a:latin typeface="Quicksand"/>
              </a:rPr>
              <a:t>Beyond the </a:t>
            </a:r>
            <a:r>
              <a:rPr b="1" sz="2400" i="0" u="none">
                <a:solidFill>
                  <a:srgbClr val="B05CFF"/>
                </a:solidFill>
                <a:latin typeface="Quicksand"/>
              </a:rPr>
              <a:t>BASICS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725" y="950565"/>
            <a:ext cx="1125855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1125" i="0" u="none">
                <a:solidFill>
                  <a:srgbClr val="DCE3EF"/>
                </a:solidFill>
                <a:latin typeface="Quicksand Medium"/>
              </a:rPr>
              <a:t>“Methods, nested lists, copying, comprehensions and practical use cases.”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6725" y="523875"/>
            <a:ext cx="76200" cy="76200"/>
          </a:xfrm>
          <a:prstGeom prst="roundRect">
            <a:avLst>
              <a:gd name="adj" fmla="val 25000"/>
            </a:avLst>
          </a:prstGeom>
          <a:solidFill>
            <a:srgbClr val="B0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9600" y="1507777"/>
            <a:ext cx="5257800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B05CFF"/>
                </a:solidFill>
                <a:latin typeface="Quicksand"/>
              </a:rPr>
              <a:t>01</a:t>
            </a:r>
            <a:r>
              <a:rPr b="1" sz="1125" i="0" u="none">
                <a:solidFill>
                  <a:srgbClr val="FFFFFF"/>
                </a:solidFill>
                <a:latin typeface="Quicksand"/>
              </a:rPr>
              <a:t>LIST METHODS (MODIFIERS)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4600" y="1488727"/>
            <a:ext cx="5257800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B05CFF"/>
                </a:solidFill>
                <a:latin typeface="Quicksand"/>
              </a:rPr>
              <a:t>02</a:t>
            </a:r>
            <a:r>
              <a:rPr b="1" sz="975" i="0" u="none">
                <a:solidFill>
                  <a:srgbClr val="FFFFFF"/>
                </a:solidFill>
                <a:latin typeface="Quicksand"/>
              </a:rPr>
              <a:t>REFERENCE vs SHALLOW COPY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4600" y="2793652"/>
            <a:ext cx="5257800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B05CFF"/>
                </a:solidFill>
                <a:latin typeface="Quicksand"/>
              </a:rPr>
              <a:t>03</a:t>
            </a:r>
            <a:r>
              <a:rPr b="1" sz="975" i="0" u="none">
                <a:solidFill>
                  <a:srgbClr val="FFFFFF"/>
                </a:solidFill>
                <a:latin typeface="Quicksand"/>
              </a:rPr>
              <a:t>LIST COMPREHENSION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4600" y="3536602"/>
            <a:ext cx="52578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DCE3EF"/>
                </a:solidFill>
                <a:latin typeface="Quicksand"/>
              </a:rPr>
              <a:t>Provides a clean, elegant syntax for generating filtered/transformed lists.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24600" y="4022377"/>
            <a:ext cx="5257800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B05CFF"/>
                </a:solidFill>
                <a:latin typeface="Quicksand"/>
              </a:rPr>
              <a:t>04</a:t>
            </a:r>
            <a:r>
              <a:rPr b="1" sz="975" i="0" u="none">
                <a:solidFill>
                  <a:srgbClr val="FFFFFF"/>
                </a:solidFill>
                <a:latin typeface="Quicksand"/>
              </a:rPr>
              <a:t>WHEN TO CHOOSE LISTS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6324600" y="4860577"/>
          <a:ext cx="5257799" cy="647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443757"/>
                <a:gridCol w="2814042"/>
              </a:tblGrid>
              <a:tr h="215900"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9EADC4"/>
                          </a:solidFill>
                          <a:latin typeface="Quicksand"/>
                        </a:rPr>
                        <a:t>LIST [ ]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40E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9EADC4"/>
                          </a:solidFill>
                          <a:latin typeface="Quicksand"/>
                        </a:rPr>
                        <a:t>TUPLE ( 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40E1F"/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DCE3EF"/>
                          </a:solidFill>
                          <a:latin typeface="Quicksand"/>
                        </a:rPr>
                        <a:t>Dynamic, growing collections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DCE3EF"/>
                          </a:solidFill>
                          <a:latin typeface="Quicksand"/>
                        </a:rPr>
                        <a:t>Fixed size records / coordinates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DCE3EF"/>
                          </a:solidFill>
                          <a:latin typeface="Quicksand"/>
                        </a:rPr>
                        <a:t>Frequent insertions/removals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DCE3EF"/>
                          </a:solidFill>
                          <a:latin typeface="Quicksand"/>
                        </a:rPr>
                        <a:t>Read-only / Multiple return values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552950" y="1507777"/>
            <a:ext cx="1314450" cy="21907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33425" y="3650902"/>
            <a:ext cx="143827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9EADC4"/>
                </a:solidFill>
                <a:latin typeface="Quicksand"/>
              </a:rPr>
              <a:t>DISTINCT BUILT-IN FUNCTIONS: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7900" y="3641377"/>
            <a:ext cx="4000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FACF37"/>
                </a:solidFill>
                <a:latin typeface="Roboto Mono"/>
              </a:rPr>
              <a:t>len(L)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24150" y="3641377"/>
            <a:ext cx="4000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FACF37"/>
                </a:solidFill>
                <a:latin typeface="Roboto Mono"/>
              </a:rPr>
              <a:t>min(L)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3641377"/>
            <a:ext cx="4000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FACF37"/>
                </a:solidFill>
                <a:latin typeface="Roboto Mono"/>
              </a:rPr>
              <a:t>max(L)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76650" y="3641377"/>
            <a:ext cx="4000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FACF37"/>
                </a:solidFill>
                <a:latin typeface="Roboto Mono"/>
              </a:rPr>
              <a:t>sum(L)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0550" y="4250977"/>
            <a:ext cx="2476500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Quicksand"/>
              </a:rPr>
              <a:t>UNPACKING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0550" y="5155852"/>
            <a:ext cx="2476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9EADC4"/>
                </a:solidFill>
                <a:latin typeface="Quicksand"/>
              </a:rPr>
              <a:t>Groups multiple values and unpacks into distinct variables.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09950" y="4250977"/>
            <a:ext cx="2476500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Quicksand"/>
              </a:rPr>
              <a:t>NESTED LISTS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09950" y="5012977"/>
            <a:ext cx="24765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9EADC4"/>
                </a:solidFill>
                <a:latin typeface="Quicksand"/>
              </a:rPr>
              <a:t>Lists can contain nested sublists or other structures.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982325" y="1488727"/>
            <a:ext cx="600075" cy="219075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910887" y="2793652"/>
            <a:ext cx="671512" cy="219075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7896225" y="3274665"/>
            <a:ext cx="2000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b="0" sz="825" i="0" u="none">
                <a:solidFill>
                  <a:srgbClr val="B05CFF"/>
                </a:solidFill>
                <a:latin typeface="Roboto Mono SemiBold"/>
              </a:rPr>
              <a:t>for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96275" y="3274665"/>
            <a:ext cx="1333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b="0" sz="825" i="0" u="none">
                <a:solidFill>
                  <a:srgbClr val="B05CFF"/>
                </a:solidFill>
                <a:latin typeface="Roboto Mono SemiBold"/>
              </a:rPr>
              <a:t>in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96300" y="3274665"/>
            <a:ext cx="3333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b="0" sz="825" i="0" u="none">
                <a:solidFill>
                  <a:srgbClr val="B05CFF"/>
                </a:solidFill>
                <a:latin typeface="Roboto Mono SemiBold"/>
              </a:rPr>
              <a:t>range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96350" y="3274665"/>
            <a:ext cx="666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b="0" sz="825" i="0" u="none">
                <a:solidFill>
                  <a:srgbClr val="FACF37"/>
                </a:solidFill>
                <a:latin typeface="Roboto Mono"/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96375" y="3274665"/>
            <a:ext cx="666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b="0" sz="825" i="0" u="none">
                <a:solidFill>
                  <a:srgbClr val="FACF37"/>
                </a:solidFill>
                <a:latin typeface="Roboto Mono"/>
              </a:rP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63075" y="3274665"/>
            <a:ext cx="10382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b="0" sz="825" i="0" u="none">
                <a:solidFill>
                  <a:srgbClr val="27DAEF"/>
                </a:solidFill>
                <a:latin typeface="Roboto Mono"/>
              </a:rPr>
              <a:t>→ [1, 4, 9, 16]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29375" y="5613052"/>
            <a:ext cx="6286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9EADC4"/>
                </a:solidFill>
                <a:latin typeface="Roboto Mono"/>
              </a:rPr>
              <a:t>CONVERSION: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10825" y="5613052"/>
            <a:ext cx="10668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27DAEF"/>
                </a:solidFill>
                <a:latin typeface="Roboto Mono"/>
              </a:rPr>
              <a:t>list(t) ↔ tuple(L)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5325" y="1860202"/>
            <a:ext cx="24288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B05CFF"/>
                </a:solidFill>
                <a:latin typeface="Roboto Mono"/>
              </a:rPr>
              <a:t>append(x)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5325" y="2003077"/>
            <a:ext cx="242887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9EADC4"/>
                </a:solidFill>
                <a:latin typeface="Quicksand"/>
              </a:rPr>
              <a:t>adds 1 item to end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52800" y="1860202"/>
            <a:ext cx="24288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B05CFF"/>
                </a:solidFill>
                <a:latin typeface="Roboto Mono"/>
              </a:rPr>
              <a:t>extend(iterable)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52800" y="2003077"/>
            <a:ext cx="242887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9EADC4"/>
                </a:solidFill>
                <a:latin typeface="Quicksand"/>
              </a:rPr>
              <a:t>appends multiple items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5325" y="2298352"/>
            <a:ext cx="24288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B05CFF"/>
                </a:solidFill>
                <a:latin typeface="Roboto Mono"/>
              </a:rPr>
              <a:t>insert(i, x)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5325" y="2441227"/>
            <a:ext cx="242887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9EADC4"/>
                </a:solidFill>
                <a:latin typeface="Quicksand"/>
              </a:rPr>
              <a:t>inserts at position 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52800" y="2298352"/>
            <a:ext cx="24288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B05CFF"/>
                </a:solidFill>
                <a:latin typeface="Roboto Mono"/>
              </a:rPr>
              <a:t>remove(x)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52800" y="2441227"/>
            <a:ext cx="242887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9EADC4"/>
                </a:solidFill>
                <a:latin typeface="Quicksand"/>
              </a:rPr>
              <a:t>removes 1st matching value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5325" y="2736502"/>
            <a:ext cx="24288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B05CFF"/>
                </a:solidFill>
                <a:latin typeface="Roboto Mono"/>
              </a:rPr>
              <a:t>pop()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5325" y="2879377"/>
            <a:ext cx="242887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9EADC4"/>
                </a:solidFill>
                <a:latin typeface="Quicksand"/>
              </a:rPr>
              <a:t>removes &amp; returns item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52800" y="2736502"/>
            <a:ext cx="24288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B05CFF"/>
                </a:solidFill>
                <a:latin typeface="Roboto Mono"/>
              </a:rPr>
              <a:t>clear()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352800" y="2879377"/>
            <a:ext cx="242887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9EADC4"/>
                </a:solidFill>
                <a:latin typeface="Quicksand"/>
              </a:rPr>
              <a:t>removes all items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5325" y="3174652"/>
            <a:ext cx="24288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B05CFF"/>
                </a:solidFill>
                <a:latin typeface="Roboto Mono"/>
              </a:rPr>
              <a:t>sort()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5325" y="3317527"/>
            <a:ext cx="242887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9EADC4"/>
                </a:solidFill>
                <a:latin typeface="Quicksand"/>
              </a:rPr>
              <a:t>sorts list in place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52800" y="3174652"/>
            <a:ext cx="24288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B05CFF"/>
                </a:solidFill>
                <a:latin typeface="Roboto Mono"/>
              </a:rPr>
              <a:t>reverse()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352800" y="3317527"/>
            <a:ext cx="242887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9EADC4"/>
                </a:solidFill>
                <a:latin typeface="Quicksand"/>
              </a:rPr>
              <a:t>reverses list in place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762125" y="4651027"/>
            <a:ext cx="4572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b="0" sz="750" i="0" u="none">
                <a:solidFill>
                  <a:srgbClr val="52E28B"/>
                </a:solidFill>
                <a:latin typeface="Roboto Mono"/>
              </a:rPr>
              <a:t>"Vamshi"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333625" y="4651027"/>
            <a:ext cx="1143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b="0" sz="750" i="0" u="none">
                <a:solidFill>
                  <a:srgbClr val="FACF37"/>
                </a:solidFill>
                <a:latin typeface="Roboto Mono"/>
              </a:rPr>
              <a:t>22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562225" y="4651027"/>
            <a:ext cx="2286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b="0" sz="750" i="0" u="none">
                <a:solidFill>
                  <a:srgbClr val="52E28B"/>
                </a:solidFill>
                <a:latin typeface="Roboto Mono"/>
              </a:rPr>
              <a:t>"AI"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67225" y="4651027"/>
            <a:ext cx="1714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b="0" sz="750" i="0" u="none">
                <a:solidFill>
                  <a:srgbClr val="52E28B"/>
                </a:solidFill>
                <a:latin typeface="Roboto Mono"/>
              </a:rPr>
              <a:t>"A"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752975" y="4651027"/>
            <a:ext cx="1143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b="0" sz="750" i="0" u="none">
                <a:solidFill>
                  <a:srgbClr val="FACF37"/>
                </a:solidFill>
                <a:latin typeface="Roboto Mono"/>
              </a:rPr>
              <a:t>90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95875" y="4651027"/>
            <a:ext cx="1714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b="0" sz="750" i="0" u="none">
                <a:solidFill>
                  <a:srgbClr val="52E28B"/>
                </a:solidFill>
                <a:latin typeface="Roboto Mono"/>
              </a:rPr>
              <a:t>"B"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81625" y="4651027"/>
            <a:ext cx="1143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b="0" sz="750" i="0" u="none">
                <a:solidFill>
                  <a:srgbClr val="FACF37"/>
                </a:solidFill>
                <a:latin typeface="Roboto Mono"/>
              </a:rPr>
              <a:t>85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781425" y="4793902"/>
            <a:ext cx="571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b="0" sz="750" i="0" u="none">
                <a:solidFill>
                  <a:srgbClr val="FACF37"/>
                </a:solidFill>
                <a:latin typeface="Roboto Mono"/>
              </a:rP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52875" y="4793902"/>
            <a:ext cx="571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b="0" sz="750" i="0" u="none">
                <a:solidFill>
                  <a:srgbClr val="FACF37"/>
                </a:solidFill>
                <a:latin typeface="Roboto Mono"/>
              </a:rPr>
              <a:t>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124325" y="4793902"/>
            <a:ext cx="2667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b="0" sz="750" i="0" u="none">
                <a:solidFill>
                  <a:srgbClr val="27DAEF"/>
                </a:solidFill>
                <a:latin typeface="Roboto Mono"/>
              </a:rPr>
              <a:t>→ 90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24600" y="1764952"/>
            <a:ext cx="25908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FF687F"/>
                </a:solidFill>
                <a:latin typeface="Quicksand"/>
              </a:rPr>
              <a:t>REFERENCE (ALIASING)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91600" y="1764952"/>
            <a:ext cx="25908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52E28B"/>
                </a:solidFill>
                <a:latin typeface="Quicksand"/>
              </a:rPr>
              <a:t>SHALLOW COPY</a:t>
            </a:r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410325" y="4331940"/>
            <a:ext cx="85725" cy="95250"/>
          </a:xfrm>
          <a:prstGeom prst="rect">
            <a:avLst/>
          </a:prstGeom>
        </p:spPr>
      </p:pic>
      <p:pic>
        <p:nvPicPr>
          <p:cNvPr id="87" name="Picture 86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067800" y="4331940"/>
            <a:ext cx="85725" cy="95250"/>
          </a:xfrm>
          <a:prstGeom prst="rect">
            <a:avLst/>
          </a:prstGeom>
        </p:spPr>
      </p:pic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410325" y="4646265"/>
            <a:ext cx="85725" cy="95250"/>
          </a:xfrm>
          <a:prstGeom prst="rect">
            <a:avLst/>
          </a:prstGeom>
        </p:spPr>
      </p:pic>
      <p:pic>
        <p:nvPicPr>
          <p:cNvPr id="89" name="Picture 88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067800" y="4646265"/>
            <a:ext cx="85725" cy="95250"/>
          </a:xfrm>
          <a:prstGeom prst="rect">
            <a:avLst/>
          </a:prstGeom>
        </p:spPr>
      </p:pic>
      <p:sp>
        <p:nvSpPr>
          <p:cNvPr id="90" name="Rectangle 89"/>
          <p:cNvSpPr/>
          <p:nvPr/>
        </p:nvSpPr>
        <p:spPr>
          <a:xfrm>
            <a:off x="6324600" y="5074890"/>
            <a:ext cx="2443757" cy="9525"/>
          </a:xfrm>
          <a:prstGeom prst="rect">
            <a:avLst/>
          </a:prstGeom>
          <a:solidFill>
            <a:srgbClr val="1C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768357" y="5074890"/>
            <a:ext cx="2814042" cy="9525"/>
          </a:xfrm>
          <a:prstGeom prst="rect">
            <a:avLst/>
          </a:prstGeom>
          <a:solidFill>
            <a:srgbClr val="1C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324600" y="5293965"/>
            <a:ext cx="2443757" cy="9525"/>
          </a:xfrm>
          <a:prstGeom prst="rect">
            <a:avLst/>
          </a:prstGeom>
          <a:solidFill>
            <a:srgbClr val="1C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768357" y="5293965"/>
            <a:ext cx="2814042" cy="9525"/>
          </a:xfrm>
          <a:prstGeom prst="rect">
            <a:avLst/>
          </a:prstGeom>
          <a:solidFill>
            <a:srgbClr val="1C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191375" y="2107852"/>
            <a:ext cx="571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b="0" sz="750" i="0" u="none">
                <a:solidFill>
                  <a:srgbClr val="FACF37"/>
                </a:solidFill>
                <a:latin typeface="Roboto Mono"/>
              </a:rPr>
              <a:t>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362825" y="2107852"/>
            <a:ext cx="571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b="0" sz="750" i="0" u="none">
                <a:solidFill>
                  <a:srgbClr val="FACF37"/>
                </a:solidFill>
                <a:latin typeface="Roboto Mono"/>
              </a:rP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534275" y="2107852"/>
            <a:ext cx="571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b="0" sz="750" i="0" u="none">
                <a:solidFill>
                  <a:srgbClr val="FACF37"/>
                </a:solidFill>
                <a:latin typeface="Roboto Mono"/>
              </a:rPr>
              <a:t>3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562975" y="2107852"/>
            <a:ext cx="571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b="0" sz="750" i="0" u="none">
                <a:solidFill>
                  <a:srgbClr val="FACF37"/>
                </a:solidFill>
                <a:latin typeface="Roboto Mono"/>
              </a:rPr>
              <a:t>4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391275" y="2107852"/>
            <a:ext cx="24574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b="0" sz="750" i="1" u="none">
                <a:solidFill>
                  <a:srgbClr val="9EADC4"/>
                </a:solidFill>
                <a:latin typeface="Roboto Mono"/>
              </a:rPr>
              <a:t># a → [1, 2, 3, 4]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858375" y="2107852"/>
            <a:ext cx="571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b="0" sz="750" i="0" u="none">
                <a:solidFill>
                  <a:srgbClr val="FACF37"/>
                </a:solidFill>
                <a:latin typeface="Roboto Mono"/>
              </a:rP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029825" y="2107852"/>
            <a:ext cx="571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b="0" sz="750" i="0" u="none">
                <a:solidFill>
                  <a:srgbClr val="FACF37"/>
                </a:solidFill>
                <a:latin typeface="Roboto Mono"/>
              </a:rP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201275" y="2107852"/>
            <a:ext cx="571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b="0" sz="750" i="0" u="none">
                <a:solidFill>
                  <a:srgbClr val="FACF37"/>
                </a:solidFill>
                <a:latin typeface="Roboto Mono"/>
              </a:rPr>
              <a:t>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572625" y="2250727"/>
            <a:ext cx="571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b="0" sz="750" i="0" u="none">
                <a:solidFill>
                  <a:srgbClr val="FACF37"/>
                </a:solidFill>
                <a:latin typeface="Roboto Mono"/>
              </a:rPr>
              <a:t>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744075" y="2250727"/>
            <a:ext cx="8953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b="0" sz="750" i="1" u="none">
                <a:solidFill>
                  <a:srgbClr val="9EADC4"/>
                </a:solidFill>
                <a:latin typeface="Roboto Mono"/>
              </a:rPr>
              <a:t># a → [1, 2, 3]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