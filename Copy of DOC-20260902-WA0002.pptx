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media/image67.png" ContentType="image/png"/>
  <Override PartName="/ppt/media/image33.png" ContentType="image/png"/>
  <Override PartName="/ppt/media/image36.png" ContentType="image/png"/>
  <Override PartName="/ppt/media/image12.png" ContentType="image/png"/>
  <Override PartName="/ppt/media/image37.png" ContentType="image/png"/>
  <Override PartName="/ppt/media/image13.png" ContentType="image/png"/>
  <Override PartName="/ppt/media/image38.png" ContentType="image/png"/>
  <Override PartName="/ppt/media/image14.png" ContentType="image/png"/>
  <Override PartName="/ppt/media/image39.png" ContentType="image/png"/>
  <Override PartName="/ppt/media/image68.png" ContentType="image/png"/>
  <Override PartName="/ppt/media/image34.png" ContentType="image/png"/>
  <Override PartName="/ppt/media/image17.png" ContentType="image/png"/>
  <Override PartName="/ppt/media/image92.png" ContentType="image/png"/>
  <Override PartName="/ppt/media/image35.png" ContentType="image/png"/>
  <Override PartName="/ppt/media/image18.png" ContentType="image/png"/>
  <Override PartName="/ppt/media/image100.png" ContentType="image/png"/>
  <Override PartName="/ppt/media/image93.png" ContentType="image/png"/>
  <Override PartName="/ppt/media/image19.png" ContentType="image/png"/>
  <Override PartName="/ppt/media/image101.png" ContentType="image/png"/>
  <Override PartName="/ppt/media/image94.png" ContentType="image/png"/>
  <Override PartName="/ppt/media/image20.png" ContentType="image/png"/>
  <Override PartName="/ppt/media/image79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89.png" ContentType="image/png"/>
  <Override PartName="/ppt/media/image31.png" ContentType="image/png"/>
  <Override PartName="/ppt/media/image32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110.png" ContentType="image/png"/>
  <Override PartName="/ppt/media/image65.png" ContentType="image/png"/>
  <Override PartName="/ppt/media/image66.png" ContentType="image/png"/>
  <Override PartName="/ppt/media/image11.png" ContentType="image/png"/>
  <Override PartName="/ppt/media/image73.png" ContentType="image/png"/>
  <Override PartName="/ppt/media/image4.png" ContentType="image/png"/>
  <Override PartName="/ppt/media/image1.png" ContentType="image/png"/>
  <Override PartName="/ppt/media/image70.png" ContentType="image/png"/>
  <Override PartName="/ppt/media/image74.png" ContentType="image/png"/>
  <Override PartName="/ppt/media/image5.png" ContentType="image/png"/>
  <Override PartName="/ppt/media/image9.png" ContentType="image/png"/>
  <Override PartName="/ppt/media/image78.png" ContentType="image/png"/>
  <Override PartName="/ppt/media/image86.png" ContentType="image/png"/>
  <Override PartName="/ppt/media/image71.png" ContentType="image/png"/>
  <Override PartName="/ppt/media/image2.png" ContentType="image/png"/>
  <Override PartName="/ppt/media/image87.png" ContentType="image/png"/>
  <Override PartName="/ppt/media/image10.png" ContentType="image/png"/>
  <Override PartName="/ppt/media/image69.png" ContentType="image/png"/>
  <Override PartName="/ppt/media/image72.png" ContentType="image/png"/>
  <Override PartName="/ppt/media/image3.png" ContentType="image/png"/>
  <Override PartName="/ppt/media/image88.png" ContentType="image/png"/>
  <Override PartName="/ppt/media/image102.png" ContentType="image/png"/>
  <Override PartName="/ppt/media/image95.png" ContentType="image/png"/>
  <Override PartName="/ppt/media/image40.png" ContentType="image/png"/>
  <Override PartName="/ppt/media/image109.png" ContentType="image/png"/>
  <Override PartName="/ppt/media/image80.png" ContentType="image/png"/>
  <Override PartName="/ppt/media/image106.png" ContentType="image/png"/>
  <Override PartName="/ppt/media/image99.png" ContentType="image/png"/>
  <Override PartName="/ppt/media/image76.png" ContentType="image/png"/>
  <Override PartName="/ppt/media/image7.png" ContentType="image/png"/>
  <Override PartName="/ppt/media/image58.png" ContentType="image/png"/>
  <Override PartName="/ppt/media/image96.png" ContentType="image/png"/>
  <Override PartName="/ppt/media/image103.png" ContentType="image/png"/>
  <Override PartName="/ppt/media/image75.png" ContentType="image/png"/>
  <Override PartName="/ppt/media/image6.png" ContentType="image/png"/>
  <Override PartName="/ppt/media/image57.png" ContentType="image/png"/>
  <Override PartName="/ppt/media/image105.png" ContentType="image/png"/>
  <Override PartName="/ppt/media/image98.png" ContentType="image/png"/>
  <Override PartName="/ppt/media/image82.png" ContentType="image/png"/>
  <Override PartName="/ppt/media/image16.png" ContentType="image/png"/>
  <Override PartName="/ppt/media/image91.png" ContentType="image/png"/>
  <Override PartName="/ppt/media/image83.png" ContentType="image/png"/>
  <Override PartName="/ppt/media/image104.png" ContentType="image/png"/>
  <Override PartName="/ppt/media/image97.png" ContentType="image/png"/>
  <Override PartName="/ppt/media/image85.png" ContentType="image/png"/>
  <Override PartName="/ppt/media/image8.png" ContentType="image/png"/>
  <Override PartName="/ppt/media/image77.png" ContentType="image/png"/>
  <Override PartName="/ppt/media/image108.png" ContentType="image/png"/>
  <Override PartName="/ppt/media/image84.png" ContentType="image/png"/>
  <Override PartName="/ppt/media/image107.png" ContentType="image/png"/>
  <Override PartName="/ppt/media/image81.png" ContentType="image/png"/>
  <Override PartName="/ppt/media/image15.png" ContentType="image/png"/>
  <Override PartName="/ppt/media/image90.png" ContentType="image/png"/>
  <Override PartName="/ppt/media/image59.png" ContentType="image/png"/>
  <Override PartName="/ppt/slides/_rels/slide28.xml.rels" ContentType="application/vnd.openxmlformats-package.relationships+xml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8288000" cy="10287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4F6864-7A9A-414D-B322-F7200C5582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C3064E-1514-4193-90C1-41766A0936F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3934266-0FF4-4EB2-BA4E-ACFFED29C1D1}" type="slidenum">
              <a:rPr b="0" lang="en-US" sz="12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 idx="4"/>
          </p:nvPr>
        </p:nvSpPr>
        <p:spPr>
          <a:xfrm>
            <a:off x="685800" y="9534600"/>
            <a:ext cx="3200040" cy="5472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68400" bIns="6840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5"/>
          </p:nvPr>
        </p:nvSpPr>
        <p:spPr>
          <a:xfrm>
            <a:off x="4686480" y="9534600"/>
            <a:ext cx="4343040" cy="5472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68400" bIns="6840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6"/>
          </p:nvPr>
        </p:nvSpPr>
        <p:spPr>
          <a:xfrm>
            <a:off x="9829800" y="9534600"/>
            <a:ext cx="3200040" cy="547200"/>
          </a:xfrm>
          <a:prstGeom prst="rect">
            <a:avLst/>
          </a:prstGeom>
          <a:noFill/>
          <a:ln w="0">
            <a:noFill/>
          </a:ln>
        </p:spPr>
        <p:txBody>
          <a:bodyPr lIns="137160" rIns="137160" tIns="68400" bIns="684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800" strike="noStrike" u="none">
                <a:solidFill>
                  <a:srgbClr val="888888"/>
                </a:solidFill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2AB330-8B04-4B4B-A7B8-AF00CDE9F849}" type="slidenum">
              <a:rPr b="0" lang="en-US" sz="1800" strike="noStrike" u="none">
                <a:solidFill>
                  <a:srgbClr val="888888"/>
                </a:solidFill>
                <a:uFillTx/>
                <a:latin typeface="Calibri"/>
                <a:ea typeface="Calibri"/>
              </a:rPr>
              <a:t>&lt;number&gt;</a:t>
            </a:fld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Relationship Id="rId14" Type="http://schemas.openxmlformats.org/officeDocument/2006/relationships/image" Target="../media/image19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2.png"/><Relationship Id="rId18" Type="http://schemas.openxmlformats.org/officeDocument/2006/relationships/image" Target="../media/image23.png"/><Relationship Id="rId19" Type="http://schemas.openxmlformats.org/officeDocument/2006/relationships/image" Target="../media/image24.png"/><Relationship Id="rId20" Type="http://schemas.openxmlformats.org/officeDocument/2006/relationships/image" Target="../media/image25.png"/><Relationship Id="rId21" Type="http://schemas.openxmlformats.org/officeDocument/2006/relationships/image" Target="../media/image26.png"/><Relationship Id="rId22" Type="http://schemas.openxmlformats.org/officeDocument/2006/relationships/image" Target="../media/image27.png"/><Relationship Id="rId23" Type="http://schemas.openxmlformats.org/officeDocument/2006/relationships/image" Target="../media/image28.png"/><Relationship Id="rId24" Type="http://schemas.openxmlformats.org/officeDocument/2006/relationships/image" Target="../media/image29.png"/><Relationship Id="rId25" Type="http://schemas.openxmlformats.org/officeDocument/2006/relationships/image" Target="../media/image30.png"/><Relationship Id="rId26" Type="http://schemas.openxmlformats.org/officeDocument/2006/relationships/image" Target="../media/image31.png"/><Relationship Id="rId27" Type="http://schemas.openxmlformats.org/officeDocument/2006/relationships/image" Target="../media/image32.png"/><Relationship Id="rId28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5.png"/><Relationship Id="rId15" Type="http://schemas.openxmlformats.org/officeDocument/2006/relationships/image" Target="../media/image46.png"/><Relationship Id="rId16" Type="http://schemas.openxmlformats.org/officeDocument/2006/relationships/image" Target="../media/image47.png"/><Relationship Id="rId17" Type="http://schemas.openxmlformats.org/officeDocument/2006/relationships/image" Target="../media/image48.png"/><Relationship Id="rId18" Type="http://schemas.openxmlformats.org/officeDocument/2006/relationships/image" Target="../media/image49.png"/><Relationship Id="rId19" Type="http://schemas.openxmlformats.org/officeDocument/2006/relationships/image" Target="../media/image50.png"/><Relationship Id="rId20" Type="http://schemas.openxmlformats.org/officeDocument/2006/relationships/image" Target="../media/image51.png"/><Relationship Id="rId21" Type="http://schemas.openxmlformats.org/officeDocument/2006/relationships/image" Target="../media/image50.png"/><Relationship Id="rId22" Type="http://schemas.openxmlformats.org/officeDocument/2006/relationships/image" Target="../media/image52.png"/><Relationship Id="rId23" Type="http://schemas.openxmlformats.org/officeDocument/2006/relationships/image" Target="../media/image53.png"/><Relationship Id="rId24" Type="http://schemas.openxmlformats.org/officeDocument/2006/relationships/image" Target="../media/image54.png"/><Relationship Id="rId25" Type="http://schemas.openxmlformats.org/officeDocument/2006/relationships/image" Target="../media/image55.png"/><Relationship Id="rId26" Type="http://schemas.openxmlformats.org/officeDocument/2006/relationships/image" Target="../media/image56.png"/><Relationship Id="rId27" Type="http://schemas.openxmlformats.org/officeDocument/2006/relationships/image" Target="../media/image57.png"/><Relationship Id="rId28" Type="http://schemas.openxmlformats.org/officeDocument/2006/relationships/image" Target="../media/image58.png"/><Relationship Id="rId29" Type="http://schemas.openxmlformats.org/officeDocument/2006/relationships/image" Target="../media/image59.png"/><Relationship Id="rId30" Type="http://schemas.openxmlformats.org/officeDocument/2006/relationships/image" Target="../media/image60.png"/><Relationship Id="rId31" Type="http://schemas.openxmlformats.org/officeDocument/2006/relationships/image" Target="../media/image61.png"/><Relationship Id="rId32" Type="http://schemas.openxmlformats.org/officeDocument/2006/relationships/image" Target="../media/image62.png"/><Relationship Id="rId33" Type="http://schemas.openxmlformats.org/officeDocument/2006/relationships/image" Target="../media/image62.png"/><Relationship Id="rId34" Type="http://schemas.openxmlformats.org/officeDocument/2006/relationships/image" Target="../media/image62.png"/><Relationship Id="rId35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3.png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Relationship Id="rId7" Type="http://schemas.openxmlformats.org/officeDocument/2006/relationships/image" Target="../media/image69.png"/><Relationship Id="rId8" Type="http://schemas.openxmlformats.org/officeDocument/2006/relationships/image" Target="../media/image70.png"/><Relationship Id="rId9" Type="http://schemas.openxmlformats.org/officeDocument/2006/relationships/image" Target="../media/image71.png"/><Relationship Id="rId10" Type="http://schemas.openxmlformats.org/officeDocument/2006/relationships/image" Target="../media/image72.png"/><Relationship Id="rId11" Type="http://schemas.openxmlformats.org/officeDocument/2006/relationships/image" Target="../media/image73.png"/><Relationship Id="rId12" Type="http://schemas.openxmlformats.org/officeDocument/2006/relationships/image" Target="../media/image74.png"/><Relationship Id="rId13" Type="http://schemas.openxmlformats.org/officeDocument/2006/relationships/image" Target="../media/image75.png"/><Relationship Id="rId14" Type="http://schemas.openxmlformats.org/officeDocument/2006/relationships/image" Target="../media/image76.png"/><Relationship Id="rId15" Type="http://schemas.openxmlformats.org/officeDocument/2006/relationships/image" Target="../media/image77.png"/><Relationship Id="rId16" Type="http://schemas.openxmlformats.org/officeDocument/2006/relationships/image" Target="../media/image78.png"/><Relationship Id="rId17" Type="http://schemas.openxmlformats.org/officeDocument/2006/relationships/image" Target="../media/image79.png"/><Relationship Id="rId18" Type="http://schemas.openxmlformats.org/officeDocument/2006/relationships/image" Target="../media/image80.png"/><Relationship Id="rId19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png"/><Relationship Id="rId6" Type="http://schemas.openxmlformats.org/officeDocument/2006/relationships/image" Target="../media/image86.png"/><Relationship Id="rId7" Type="http://schemas.openxmlformats.org/officeDocument/2006/relationships/image" Target="../media/image87.png"/><Relationship Id="rId8" Type="http://schemas.openxmlformats.org/officeDocument/2006/relationships/image" Target="../media/image88.png"/><Relationship Id="rId9" Type="http://schemas.openxmlformats.org/officeDocument/2006/relationships/image" Target="../media/image89.png"/><Relationship Id="rId10" Type="http://schemas.openxmlformats.org/officeDocument/2006/relationships/image" Target="../media/image90.png"/><Relationship Id="rId11" Type="http://schemas.openxmlformats.org/officeDocument/2006/relationships/image" Target="../media/image91.png"/><Relationship Id="rId12" Type="http://schemas.openxmlformats.org/officeDocument/2006/relationships/image" Target="../media/image92.png"/><Relationship Id="rId13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4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5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6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7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8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9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0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1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0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3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04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05.png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06.png"/><Relationship Id="rId2" Type="http://schemas.openxmlformats.org/officeDocument/2006/relationships/image" Target="../media/image107.png"/><Relationship Id="rId3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08.png"/><Relationship Id="rId2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09.png"/><Relationship Id="rId2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1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59;p25"/>
          <p:cNvSpPr/>
          <p:nvPr/>
        </p:nvSpPr>
        <p:spPr>
          <a:xfrm>
            <a:off x="141480" y="5861160"/>
            <a:ext cx="1774440" cy="1774440"/>
          </a:xfrm>
          <a:custGeom>
            <a:avLst/>
            <a:gdLst>
              <a:gd name="textAreaLeft" fmla="*/ 0 w 1774440"/>
              <a:gd name="textAreaRight" fmla="*/ 1774800 w 1774440"/>
              <a:gd name="textAreaTop" fmla="*/ 0 h 1774440"/>
              <a:gd name="textAreaBottom" fmla="*/ 1774800 h 1774440"/>
            </a:gdLst>
            <a:ahLst/>
            <a:rect l="textAreaLeft" t="textAreaTop" r="textAreaRight" b="textAreaBottom"/>
            <a:pathLst>
              <a:path w="1774665" h="1774665">
                <a:moveTo>
                  <a:pt x="0" y="0"/>
                </a:moveTo>
                <a:lnTo>
                  <a:pt x="1774664" y="0"/>
                </a:lnTo>
                <a:lnTo>
                  <a:pt x="1774664" y="1774664"/>
                </a:lnTo>
                <a:lnTo>
                  <a:pt x="0" y="177466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>
              <a:alphaModFix amt="14000"/>
            </a:blip>
            <a:srcRect/>
            <a:stretch>
              <a:fillRect l="-10" t="-10" r="-10" b="-10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" name="Google Shape;160;p25"/>
          <p:cNvSpPr/>
          <p:nvPr/>
        </p:nvSpPr>
        <p:spPr>
          <a:xfrm>
            <a:off x="11962440" y="269280"/>
            <a:ext cx="1072800" cy="1072800"/>
          </a:xfrm>
          <a:custGeom>
            <a:avLst/>
            <a:gdLst>
              <a:gd name="textAreaLeft" fmla="*/ 0 w 1072800"/>
              <a:gd name="textAreaRight" fmla="*/ 1073160 w 1072800"/>
              <a:gd name="textAreaTop" fmla="*/ 0 h 1072800"/>
              <a:gd name="textAreaBottom" fmla="*/ 1073160 h 1072800"/>
            </a:gdLst>
            <a:ahLst/>
            <a:rect l="textAreaLeft" t="textAreaTop" r="textAreaRight" b="textAreaBottom"/>
            <a:pathLst>
              <a:path w="1073019" h="1073019">
                <a:moveTo>
                  <a:pt x="0" y="0"/>
                </a:moveTo>
                <a:lnTo>
                  <a:pt x="1073019" y="0"/>
                </a:lnTo>
                <a:lnTo>
                  <a:pt x="1073019" y="1073019"/>
                </a:lnTo>
                <a:lnTo>
                  <a:pt x="0" y="1073019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14000"/>
            </a:blip>
            <a:srcRect/>
            <a:stretch>
              <a:fillRect l="-16" t="-16" r="-16" b="-16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Google Shape;161;p25"/>
          <p:cNvSpPr/>
          <p:nvPr/>
        </p:nvSpPr>
        <p:spPr>
          <a:xfrm>
            <a:off x="4186440" y="3385080"/>
            <a:ext cx="11223360" cy="388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5000"/>
              </a:lnSpc>
              <a:tabLst>
                <a:tab algn="l" pos="0"/>
              </a:tabLst>
            </a:pPr>
            <a:endParaRPr b="0" lang="en-US" sz="1231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>
              <a:lnSpc>
                <a:spcPct val="105000"/>
              </a:lnSpc>
              <a:tabLst>
                <a:tab algn="l" pos="0"/>
              </a:tabLst>
            </a:pPr>
            <a:endParaRPr b="0" lang="en-US" sz="1231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Google Shape;162;p25"/>
          <p:cNvSpPr/>
          <p:nvPr/>
        </p:nvSpPr>
        <p:spPr>
          <a:xfrm>
            <a:off x="1150920" y="1342080"/>
            <a:ext cx="15804720" cy="73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67;p26"/>
          <p:cNvSpPr/>
          <p:nvPr/>
        </p:nvSpPr>
        <p:spPr>
          <a:xfrm>
            <a:off x="6446160" y="664200"/>
            <a:ext cx="5395320" cy="88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LIST IN PYTHON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Google Shape;168;p26"/>
          <p:cNvSpPr/>
          <p:nvPr/>
        </p:nvSpPr>
        <p:spPr>
          <a:xfrm>
            <a:off x="443520" y="2243160"/>
            <a:ext cx="10823400" cy="54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419040">
              <a:lnSpc>
                <a:spcPct val="150000"/>
              </a:lnSpc>
              <a:buClr>
                <a:srgbClr val="ffffff"/>
              </a:buClr>
              <a:buFont typeface="Comfortaa Light"/>
              <a:buChar char="●"/>
            </a:pP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A List is a collection of multiple items stored in a single variable.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Comfortaa Light"/>
              <a:buChar char="●"/>
            </a:pP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Lists are ordered, changeable (mutable), and allow duplicate values.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>
              <a:lnSpc>
                <a:spcPct val="150000"/>
              </a:lnSpc>
              <a:buClr>
                <a:srgbClr val="ffffff"/>
              </a:buClr>
              <a:buFont typeface="Comfortaa Light"/>
              <a:buChar char="●"/>
            </a:pP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Lists can store different data types such as integers, strings, and floats.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>
              <a:lnSpc>
                <a:spcPct val="150000"/>
              </a:lnSpc>
              <a:buClr>
                <a:srgbClr val="ffffff"/>
              </a:buClr>
              <a:buFont typeface="Comfortaa Light"/>
              <a:buChar char="●"/>
            </a:pP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Lists are created using square brackets [ ].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50000"/>
              </a:lnSpc>
              <a:tabLst>
                <a:tab algn="l" pos="0"/>
              </a:tabLst>
            </a:pPr>
            <a:r>
              <a:rPr b="1" lang="en-US" sz="3000" strike="noStrike" u="sng">
                <a:solidFill>
                  <a:schemeClr val="lt1"/>
                </a:solidFill>
                <a:uFillTx/>
                <a:latin typeface="Comfortaa"/>
                <a:ea typeface="Comfortaa"/>
              </a:rPr>
              <a:t>Example: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fruits = ["Apple", "Banana", "Mango"]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print(fruits)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5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5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6" name="Google Shape;169;p26" descr=""/>
          <p:cNvPicPr/>
          <p:nvPr/>
        </p:nvPicPr>
        <p:blipFill>
          <a:blip r:embed="rId1"/>
          <a:stretch/>
        </p:blipFill>
        <p:spPr>
          <a:xfrm>
            <a:off x="11267280" y="3429000"/>
            <a:ext cx="6770880" cy="3957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4;p27"/>
          <p:cNvSpPr/>
          <p:nvPr/>
        </p:nvSpPr>
        <p:spPr>
          <a:xfrm>
            <a:off x="5288760" y="646200"/>
            <a:ext cx="7710120" cy="74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Common List Operations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" name="Google Shape;175;p27"/>
          <p:cNvSpPr/>
          <p:nvPr/>
        </p:nvSpPr>
        <p:spPr>
          <a:xfrm>
            <a:off x="7822800" y="1690200"/>
            <a:ext cx="9996120" cy="804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sng">
                <a:solidFill>
                  <a:schemeClr val="lt1"/>
                </a:solidFill>
                <a:uFillTx/>
                <a:latin typeface="Comfortaa"/>
                <a:ea typeface="Comfortaa"/>
              </a:rPr>
              <a:t>Accessing Elements:</a:t>
            </a:r>
            <a:r>
              <a:rPr b="0" lang="en-US" sz="3000" strike="noStrike" u="sng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Elements can be accessed using index numbers, starting from 0.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sng">
                <a:solidFill>
                  <a:schemeClr val="lt1"/>
                </a:solidFill>
                <a:uFillTx/>
                <a:latin typeface="Comfortaa"/>
                <a:ea typeface="Comfortaa"/>
              </a:rPr>
              <a:t>Adding Elements:</a:t>
            </a: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append(), insert(), and extend() are used to add single or multiple elements.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sng">
                <a:solidFill>
                  <a:schemeClr val="lt1"/>
                </a:solidFill>
                <a:uFillTx/>
                <a:latin typeface="Comfortaa"/>
                <a:ea typeface="Comfortaa"/>
              </a:rPr>
              <a:t>Removing Elements: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remove(), pop(), and clear() are used to delete elements from a list.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sng">
                <a:solidFill>
                  <a:schemeClr val="lt1"/>
                </a:solidFill>
                <a:uFillTx/>
                <a:latin typeface="Comfortaa"/>
                <a:ea typeface="Comfortaa"/>
              </a:rPr>
              <a:t>Updating Elements:</a:t>
            </a:r>
            <a:r>
              <a:rPr b="0" lang="en-US" sz="3000" strike="noStrike" u="sng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Existing elements can be modified by assigning a new value to their index.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sng">
                <a:solidFill>
                  <a:schemeClr val="lt1"/>
                </a:solidFill>
                <a:uFillTx/>
                <a:latin typeface="Comfortaa"/>
                <a:ea typeface="Comfortaa"/>
              </a:rPr>
              <a:t>Finding Length:</a:t>
            </a:r>
            <a:r>
              <a:rPr b="0" lang="en-US" sz="3000" strike="noStrike" u="sng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The len() function is used to find the total number of elements in a list.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" name="Google Shape;176;p27" descr=""/>
          <p:cNvPicPr/>
          <p:nvPr/>
        </p:nvPicPr>
        <p:blipFill>
          <a:blip r:embed="rId1"/>
          <a:stretch/>
        </p:blipFill>
        <p:spPr>
          <a:xfrm>
            <a:off x="176760" y="2526840"/>
            <a:ext cx="7517880" cy="6026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181;p28"/>
          <p:cNvSpPr/>
          <p:nvPr/>
        </p:nvSpPr>
        <p:spPr>
          <a:xfrm flipH="1">
            <a:off x="14194440" y="9915480"/>
            <a:ext cx="4114440" cy="4114440"/>
          </a:xfrm>
          <a:custGeom>
            <a:avLst/>
            <a:gdLst>
              <a:gd name="textAreaLeft" fmla="*/ -360 w 4114440"/>
              <a:gd name="textAreaRight" fmla="*/ 4114440 w 4114440"/>
              <a:gd name="textAreaTop" fmla="*/ 0 h 4114440"/>
              <a:gd name="textAreaBottom" fmla="*/ 4114800 h 4114440"/>
            </a:gdLst>
            <a:ahLst/>
            <a:rect l="textAreaLeft" t="textAreaTop" r="textAreaRight" b="textAreaBottom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 rotWithShape="0">
            <a:blip r:embed="rId1">
              <a:alphaModFix amt="57000"/>
            </a:blip>
            <a:srcRect/>
            <a:stretch>
              <a:fillRect l="-4" t="-4" r="-4" b="-4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Google Shape;182;p28"/>
          <p:cNvSpPr/>
          <p:nvPr/>
        </p:nvSpPr>
        <p:spPr>
          <a:xfrm>
            <a:off x="-2057400" y="-3789360"/>
            <a:ext cx="4114440" cy="4114440"/>
          </a:xfrm>
          <a:custGeom>
            <a:avLst/>
            <a:gdLst>
              <a:gd name="textAreaLeft" fmla="*/ 0 w 4114440"/>
              <a:gd name="textAreaRight" fmla="*/ 4114800 w 4114440"/>
              <a:gd name="textAreaTop" fmla="*/ 0 h 4114440"/>
              <a:gd name="textAreaBottom" fmla="*/ 4114800 h 41144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7000"/>
            </a:blip>
            <a:srcRect/>
            <a:stretch>
              <a:fillRect l="-4" t="-4" r="-4" b="-4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Google Shape;183;p28"/>
          <p:cNvSpPr/>
          <p:nvPr/>
        </p:nvSpPr>
        <p:spPr>
          <a:xfrm>
            <a:off x="4935600" y="713520"/>
            <a:ext cx="841644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List Features &amp; Applications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" name="Google Shape;184;p28"/>
          <p:cNvSpPr/>
          <p:nvPr/>
        </p:nvSpPr>
        <p:spPr>
          <a:xfrm>
            <a:off x="1589400" y="2119320"/>
            <a:ext cx="14632200" cy="65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Ordered: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Elements are stored in a specific sequence and maintain their order.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Mutable: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List elements can be added, removed, or modified after creation.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Allows Duplicates: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The same value can appear multiple times in a list.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Multiple Data Types: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A single list can contain integers, strings, floats, and other data types.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Arial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Indexing &amp; Slicing: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Elements can be accessed individually or as a range using indexes.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algn="just">
              <a:lnSpc>
                <a:spcPct val="150000"/>
              </a:lnSpc>
              <a:tabLst>
                <a:tab algn="l" pos="0"/>
              </a:tabLst>
            </a:pP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9;p29"/>
          <p:cNvSpPr/>
          <p:nvPr/>
        </p:nvSpPr>
        <p:spPr>
          <a:xfrm flipH="1">
            <a:off x="14194440" y="9915480"/>
            <a:ext cx="4114440" cy="4114440"/>
          </a:xfrm>
          <a:custGeom>
            <a:avLst/>
            <a:gdLst>
              <a:gd name="textAreaLeft" fmla="*/ -360 w 4114440"/>
              <a:gd name="textAreaRight" fmla="*/ 4114440 w 4114440"/>
              <a:gd name="textAreaTop" fmla="*/ 0 h 4114440"/>
              <a:gd name="textAreaBottom" fmla="*/ 4114800 h 4114440"/>
            </a:gdLst>
            <a:ahLst/>
            <a:rect l="textAreaLeft" t="textAreaTop" r="textAreaRight" b="textAreaBottom"/>
            <a:pathLst>
              <a:path w="4114800" h="4114800">
                <a:moveTo>
                  <a:pt x="4114800" y="0"/>
                </a:moveTo>
                <a:lnTo>
                  <a:pt x="0" y="0"/>
                </a:lnTo>
                <a:lnTo>
                  <a:pt x="0" y="4114800"/>
                </a:lnTo>
                <a:lnTo>
                  <a:pt x="4114800" y="4114800"/>
                </a:lnTo>
                <a:lnTo>
                  <a:pt x="4114800" y="0"/>
                </a:lnTo>
                <a:close/>
              </a:path>
            </a:pathLst>
          </a:custGeom>
          <a:blipFill rotWithShape="0">
            <a:blip r:embed="rId1">
              <a:alphaModFix amt="57000"/>
            </a:blip>
            <a:srcRect/>
            <a:stretch>
              <a:fillRect l="-4" t="-4" r="-4" b="-4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Google Shape;190;p29"/>
          <p:cNvSpPr/>
          <p:nvPr/>
        </p:nvSpPr>
        <p:spPr>
          <a:xfrm>
            <a:off x="-2057400" y="-3789360"/>
            <a:ext cx="4114440" cy="4114440"/>
          </a:xfrm>
          <a:custGeom>
            <a:avLst/>
            <a:gdLst>
              <a:gd name="textAreaLeft" fmla="*/ 0 w 4114440"/>
              <a:gd name="textAreaRight" fmla="*/ 4114800 w 4114440"/>
              <a:gd name="textAreaTop" fmla="*/ 0 h 4114440"/>
              <a:gd name="textAreaBottom" fmla="*/ 4114800 h 4114440"/>
            </a:gdLst>
            <a:ahLst/>
            <a:rect l="textAreaLeft" t="textAreaTop" r="textAreaRight" b="textAreaBottom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>
              <a:alphaModFix amt="57000"/>
            </a:blip>
            <a:srcRect/>
            <a:stretch>
              <a:fillRect l="-4" t="-4" r="-4" b="-4"/>
            </a:stretch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Google Shape;191;p29"/>
          <p:cNvSpPr/>
          <p:nvPr/>
        </p:nvSpPr>
        <p:spPr>
          <a:xfrm>
            <a:off x="4935600" y="713520"/>
            <a:ext cx="8416440" cy="717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List Features &amp; Applications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Google Shape;192;p29"/>
          <p:cNvSpPr/>
          <p:nvPr/>
        </p:nvSpPr>
        <p:spPr>
          <a:xfrm>
            <a:off x="1589400" y="2119320"/>
            <a:ext cx="14632200" cy="654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419040" algn="just">
              <a:lnSpc>
                <a:spcPct val="150000"/>
              </a:lnSpc>
              <a:spcBef>
                <a:spcPts val="1199"/>
              </a:spcBef>
              <a:buClr>
                <a:srgbClr val="ffffff"/>
              </a:buClr>
              <a:buFont typeface="Comfortaa Light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Storing Student Marks: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Used to store and manage marks of multiple students.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Comfortaa Light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Managing Names &amp; Records: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Useful for storing names, employee details, and other records.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Comfortaa Light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Data Collection: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Used to store and organize collections of related information.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Comfortaa Light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Data Science &amp; Machine Learning: 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Helps store and process datasets and input values.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9040" algn="just">
              <a:lnSpc>
                <a:spcPct val="150000"/>
              </a:lnSpc>
              <a:buClr>
                <a:srgbClr val="ffffff"/>
              </a:buClr>
              <a:buFont typeface="Comfortaa Light"/>
              <a:buChar char="●"/>
            </a:pPr>
            <a:r>
              <a:rPr b="1" lang="en-US" sz="30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Data Processing:</a:t>
            </a:r>
            <a:r>
              <a:rPr b="0" lang="en-US" sz="30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Commonly used with loops for searching, sorting, filtering, and processing data.</a:t>
            </a: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914400" algn="just">
              <a:lnSpc>
                <a:spcPct val="15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3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197;p30" descr="image.png"/>
          <p:cNvPicPr/>
          <p:nvPr/>
        </p:nvPicPr>
        <p:blipFill>
          <a:blip r:embed="rId1"/>
          <a:stretch/>
        </p:blipFill>
        <p:spPr>
          <a:xfrm>
            <a:off x="628560" y="1505160"/>
            <a:ext cx="5143320" cy="840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" name="Google Shape;198;p30" descr="image.png"/>
          <p:cNvPicPr/>
          <p:nvPr/>
        </p:nvPicPr>
        <p:blipFill>
          <a:blip r:embed="rId2"/>
          <a:stretch/>
        </p:blipFill>
        <p:spPr>
          <a:xfrm>
            <a:off x="5857920" y="1505160"/>
            <a:ext cx="11915280" cy="8409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99;p30" descr="image.png"/>
          <p:cNvPicPr/>
          <p:nvPr/>
        </p:nvPicPr>
        <p:blipFill>
          <a:blip r:embed="rId3"/>
          <a:stretch/>
        </p:blipFill>
        <p:spPr>
          <a:xfrm>
            <a:off x="6086520" y="7572240"/>
            <a:ext cx="11458080" cy="21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" name="Google Shape;200;p30" descr="image.png"/>
          <p:cNvPicPr/>
          <p:nvPr/>
        </p:nvPicPr>
        <p:blipFill>
          <a:blip r:embed="rId4"/>
          <a:stretch/>
        </p:blipFill>
        <p:spPr>
          <a:xfrm>
            <a:off x="753840" y="3339720"/>
            <a:ext cx="4768920" cy="146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" name="Google Shape;201;p30" descr="image.png"/>
          <p:cNvPicPr/>
          <p:nvPr/>
        </p:nvPicPr>
        <p:blipFill>
          <a:blip r:embed="rId5"/>
          <a:stretch/>
        </p:blipFill>
        <p:spPr>
          <a:xfrm>
            <a:off x="793080" y="4925880"/>
            <a:ext cx="4686120" cy="1308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" name="Google Shape;202;p30" descr="image.png"/>
          <p:cNvPicPr/>
          <p:nvPr/>
        </p:nvPicPr>
        <p:blipFill>
          <a:blip r:embed="rId6"/>
          <a:stretch/>
        </p:blipFill>
        <p:spPr>
          <a:xfrm>
            <a:off x="743040" y="6577560"/>
            <a:ext cx="4686120" cy="137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" name="Google Shape;203;p30" descr="image.png"/>
          <p:cNvPicPr/>
          <p:nvPr/>
        </p:nvPicPr>
        <p:blipFill>
          <a:blip r:embed="rId7"/>
          <a:stretch/>
        </p:blipFill>
        <p:spPr>
          <a:xfrm>
            <a:off x="6280200" y="-778680"/>
            <a:ext cx="11458080" cy="88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" name="Google Shape;204;p30" descr="image.png"/>
          <p:cNvPicPr/>
          <p:nvPr/>
        </p:nvPicPr>
        <p:blipFill>
          <a:blip r:embed="rId8"/>
          <a:stretch/>
        </p:blipFill>
        <p:spPr>
          <a:xfrm>
            <a:off x="8486640" y="3193560"/>
            <a:ext cx="6657480" cy="914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" name="Google Shape;205;p30" descr="image.png"/>
          <p:cNvPicPr/>
          <p:nvPr/>
        </p:nvPicPr>
        <p:blipFill>
          <a:blip r:embed="rId9"/>
          <a:stretch/>
        </p:blipFill>
        <p:spPr>
          <a:xfrm>
            <a:off x="6433200" y="8058240"/>
            <a:ext cx="3723840" cy="167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" name="Google Shape;206;p30" descr="image.png"/>
          <p:cNvPicPr/>
          <p:nvPr/>
        </p:nvPicPr>
        <p:blipFill>
          <a:blip r:embed="rId10"/>
          <a:stretch/>
        </p:blipFill>
        <p:spPr>
          <a:xfrm>
            <a:off x="12462120" y="7948440"/>
            <a:ext cx="3723840" cy="167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" name="Google Shape;207;p30" descr="image.png"/>
          <p:cNvPicPr/>
          <p:nvPr/>
        </p:nvPicPr>
        <p:blipFill>
          <a:blip r:embed="rId11"/>
          <a:stretch/>
        </p:blipFill>
        <p:spPr>
          <a:xfrm>
            <a:off x="6280200" y="6012720"/>
            <a:ext cx="3409560" cy="7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" name="Google Shape;208;p30" descr="image.png"/>
          <p:cNvPicPr/>
          <p:nvPr/>
        </p:nvPicPr>
        <p:blipFill>
          <a:blip r:embed="rId12"/>
          <a:stretch/>
        </p:blipFill>
        <p:spPr>
          <a:xfrm>
            <a:off x="6542640" y="8622000"/>
            <a:ext cx="3409560" cy="54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209;p30" descr="image.png"/>
          <p:cNvPicPr/>
          <p:nvPr/>
        </p:nvPicPr>
        <p:blipFill>
          <a:blip r:embed="rId13"/>
          <a:stretch/>
        </p:blipFill>
        <p:spPr>
          <a:xfrm>
            <a:off x="12619440" y="8526960"/>
            <a:ext cx="3409560" cy="542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Google Shape;210;p30" descr="image.png"/>
          <p:cNvPicPr/>
          <p:nvPr/>
        </p:nvPicPr>
        <p:blipFill>
          <a:blip r:embed="rId14"/>
          <a:stretch/>
        </p:blipFill>
        <p:spPr>
          <a:xfrm>
            <a:off x="9158400" y="3557880"/>
            <a:ext cx="128556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" name="Google Shape;211;p30" descr="image.png"/>
          <p:cNvPicPr/>
          <p:nvPr/>
        </p:nvPicPr>
        <p:blipFill>
          <a:blip r:embed="rId15"/>
          <a:stretch/>
        </p:blipFill>
        <p:spPr>
          <a:xfrm>
            <a:off x="10615680" y="3557880"/>
            <a:ext cx="117108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212;p30" descr="image.png"/>
          <p:cNvPicPr/>
          <p:nvPr/>
        </p:nvPicPr>
        <p:blipFill>
          <a:blip r:embed="rId16"/>
          <a:stretch/>
        </p:blipFill>
        <p:spPr>
          <a:xfrm>
            <a:off x="11958480" y="3557880"/>
            <a:ext cx="1171080" cy="428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Google Shape;213;p30" descr="image.png"/>
          <p:cNvPicPr/>
          <p:nvPr/>
        </p:nvPicPr>
        <p:blipFill>
          <a:blip r:embed="rId17"/>
          <a:stretch/>
        </p:blipFill>
        <p:spPr>
          <a:xfrm>
            <a:off x="13301640" y="3557880"/>
            <a:ext cx="1171080" cy="42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Google Shape;214;p30"/>
          <p:cNvSpPr/>
          <p:nvPr/>
        </p:nvSpPr>
        <p:spPr>
          <a:xfrm>
            <a:off x="743040" y="300240"/>
            <a:ext cx="17773560" cy="74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1" lang="en-US" sz="43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Meet the </a:t>
            </a:r>
            <a:r>
              <a:rPr b="1" lang="en-US" sz="4300" strike="noStrike" u="none">
                <a:solidFill>
                  <a:srgbClr val="b05cff"/>
                </a:solidFill>
                <a:uFillTx/>
                <a:latin typeface="Quicksand"/>
                <a:ea typeface="Quicksand"/>
              </a:rPr>
              <a:t>TUPLE</a:t>
            </a:r>
            <a:endParaRPr b="0" lang="en-US" sz="4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6" name="Google Shape;215;p30"/>
          <p:cNvSpPr/>
          <p:nvPr/>
        </p:nvSpPr>
        <p:spPr>
          <a:xfrm>
            <a:off x="650160" y="1033560"/>
            <a:ext cx="1725912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9eadc4"/>
                </a:solidFill>
                <a:uFillTx/>
                <a:latin typeface="Quicksand Medium"/>
                <a:ea typeface="Quicksand Medium"/>
              </a:rPr>
              <a:t>An ordered, immutable collection that groups related values.</a:t>
            </a:r>
            <a:endParaRPr b="0" lang="en-US" sz="2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" name="Google Shape;216;p30"/>
          <p:cNvSpPr/>
          <p:nvPr/>
        </p:nvSpPr>
        <p:spPr>
          <a:xfrm>
            <a:off x="2000160" y="1692000"/>
            <a:ext cx="3428640" cy="29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19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CORE IDEA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8" name="Google Shape;217;p30"/>
          <p:cNvSpPr/>
          <p:nvPr/>
        </p:nvSpPr>
        <p:spPr>
          <a:xfrm>
            <a:off x="743040" y="2033640"/>
            <a:ext cx="4686120" cy="1404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9" name="Google Shape;218;p30" descr="image.png"/>
          <p:cNvPicPr/>
          <p:nvPr/>
        </p:nvPicPr>
        <p:blipFill>
          <a:blip r:embed="rId18"/>
          <a:stretch/>
        </p:blipFill>
        <p:spPr>
          <a:xfrm>
            <a:off x="900000" y="9454680"/>
            <a:ext cx="156960" cy="14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Google Shape;219;p30"/>
          <p:cNvSpPr/>
          <p:nvPr/>
        </p:nvSpPr>
        <p:spPr>
          <a:xfrm>
            <a:off x="1143000" y="9429840"/>
            <a:ext cx="39902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Fixed seuence model in Python memory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" name="Google Shape;220;p30"/>
          <p:cNvSpPr/>
          <p:nvPr/>
        </p:nvSpPr>
        <p:spPr>
          <a:xfrm>
            <a:off x="9179640" y="1695960"/>
            <a:ext cx="836496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18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TUPLE ANATOMY &amp; INDEXING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2" name="Google Shape;221;p30"/>
          <p:cNvSpPr/>
          <p:nvPr/>
        </p:nvSpPr>
        <p:spPr>
          <a:xfrm>
            <a:off x="6086520" y="2033640"/>
            <a:ext cx="11458080" cy="1404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3" name="Google Shape;222;p30"/>
          <p:cNvSpPr/>
          <p:nvPr/>
        </p:nvSpPr>
        <p:spPr>
          <a:xfrm>
            <a:off x="6086520" y="4193640"/>
            <a:ext cx="11458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Zero-indexed from left to right. Each position holds a fixed reference.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Google Shape;223;p30"/>
          <p:cNvSpPr/>
          <p:nvPr/>
        </p:nvSpPr>
        <p:spPr>
          <a:xfrm>
            <a:off x="6520320" y="4832280"/>
            <a:ext cx="112183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27daef"/>
                </a:solidFill>
                <a:uFillTx/>
                <a:latin typeface="Quicksand"/>
                <a:ea typeface="Quicksand"/>
              </a:rPr>
              <a:t>HOW A TUPLE IS CREATED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5" name="Google Shape;224;p30"/>
          <p:cNvSpPr/>
          <p:nvPr/>
        </p:nvSpPr>
        <p:spPr>
          <a:xfrm>
            <a:off x="743040" y="2270520"/>
            <a:ext cx="468612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7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One variable. Multiple related values.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6" name="Google Shape;225;p30"/>
          <p:cNvSpPr/>
          <p:nvPr/>
        </p:nvSpPr>
        <p:spPr>
          <a:xfrm>
            <a:off x="743040" y="2600640"/>
            <a:ext cx="46861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Groups heterogeneous elements into a single unit.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7" name="Google Shape;226;p30" descr="image.png"/>
          <p:cNvPicPr/>
          <p:nvPr/>
        </p:nvPicPr>
        <p:blipFill>
          <a:blip r:embed="rId19"/>
          <a:stretch/>
        </p:blipFill>
        <p:spPr>
          <a:xfrm>
            <a:off x="981720" y="3540240"/>
            <a:ext cx="37116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" name="Google Shape;227;p30" descr="image.png"/>
          <p:cNvPicPr/>
          <p:nvPr/>
        </p:nvPicPr>
        <p:blipFill>
          <a:blip r:embed="rId20"/>
          <a:stretch/>
        </p:blipFill>
        <p:spPr>
          <a:xfrm>
            <a:off x="978840" y="5097240"/>
            <a:ext cx="37116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Google Shape;228;p30" descr="image.png"/>
          <p:cNvPicPr/>
          <p:nvPr/>
        </p:nvPicPr>
        <p:blipFill>
          <a:blip r:embed="rId21"/>
          <a:stretch/>
        </p:blipFill>
        <p:spPr>
          <a:xfrm>
            <a:off x="987120" y="6803280"/>
            <a:ext cx="3542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Google Shape;229;p30"/>
          <p:cNvSpPr/>
          <p:nvPr/>
        </p:nvSpPr>
        <p:spPr>
          <a:xfrm>
            <a:off x="6257880" y="2496600"/>
            <a:ext cx="18568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student  =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Google Shape;230;p30"/>
          <p:cNvSpPr/>
          <p:nvPr/>
        </p:nvSpPr>
        <p:spPr>
          <a:xfrm>
            <a:off x="8417520" y="2496600"/>
            <a:ext cx="19630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("Vamshi" ,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2" name="Google Shape;231;p30"/>
          <p:cNvSpPr/>
          <p:nvPr/>
        </p:nvSpPr>
        <p:spPr>
          <a:xfrm>
            <a:off x="10381320" y="2496600"/>
            <a:ext cx="65700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22,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3" name="Google Shape;232;p30"/>
          <p:cNvSpPr/>
          <p:nvPr/>
        </p:nvSpPr>
        <p:spPr>
          <a:xfrm>
            <a:off x="11166480" y="2496600"/>
            <a:ext cx="117108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"AI",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4" name="Google Shape;233;p30"/>
          <p:cNvSpPr/>
          <p:nvPr/>
        </p:nvSpPr>
        <p:spPr>
          <a:xfrm>
            <a:off x="12344760" y="2496600"/>
            <a:ext cx="1632960" cy="46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8.94)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5" name="Google Shape;234;p30" descr="image.png"/>
          <p:cNvPicPr/>
          <p:nvPr/>
        </p:nvPicPr>
        <p:blipFill>
          <a:blip r:embed="rId22"/>
          <a:stretch/>
        </p:blipFill>
        <p:spPr>
          <a:xfrm>
            <a:off x="6280200" y="4856760"/>
            <a:ext cx="154080" cy="16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" name="Google Shape;235;p30" descr="image.png"/>
          <p:cNvPicPr/>
          <p:nvPr/>
        </p:nvPicPr>
        <p:blipFill>
          <a:blip r:embed="rId23"/>
          <a:stretch/>
        </p:blipFill>
        <p:spPr>
          <a:xfrm>
            <a:off x="743040" y="1733760"/>
            <a:ext cx="14976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Google Shape;236;p30"/>
          <p:cNvSpPr/>
          <p:nvPr/>
        </p:nvSpPr>
        <p:spPr>
          <a:xfrm>
            <a:off x="1495800" y="3526200"/>
            <a:ext cx="3990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ORDERED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8" name="Google Shape;237;p30"/>
          <p:cNvSpPr/>
          <p:nvPr/>
        </p:nvSpPr>
        <p:spPr>
          <a:xfrm>
            <a:off x="1442880" y="3910320"/>
            <a:ext cx="38001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Elements maintain their order and can be accessed by index.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9" name="Google Shape;238;p30"/>
          <p:cNvSpPr/>
          <p:nvPr/>
        </p:nvSpPr>
        <p:spPr>
          <a:xfrm>
            <a:off x="1493280" y="5082840"/>
            <a:ext cx="3990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IMMUTABLE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0" name="Google Shape;239;p30"/>
          <p:cNvSpPr/>
          <p:nvPr/>
        </p:nvSpPr>
        <p:spPr>
          <a:xfrm>
            <a:off x="1352880" y="5449680"/>
            <a:ext cx="38001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Tuple elements cannot be added, removed, or reassigned.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Google Shape;240;p30"/>
          <p:cNvSpPr/>
          <p:nvPr/>
        </p:nvSpPr>
        <p:spPr>
          <a:xfrm>
            <a:off x="1442880" y="6814440"/>
            <a:ext cx="39902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HETEROGENEOUS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Google Shape;241;p30"/>
          <p:cNvSpPr/>
          <p:nvPr/>
        </p:nvSpPr>
        <p:spPr>
          <a:xfrm>
            <a:off x="1442880" y="7179840"/>
            <a:ext cx="380016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9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Different data types can coexist seamlessly in one tuple.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3" name="Google Shape;242;p30" descr="image.png"/>
          <p:cNvPicPr/>
          <p:nvPr/>
        </p:nvPicPr>
        <p:blipFill>
          <a:blip r:embed="rId24"/>
          <a:stretch/>
        </p:blipFill>
        <p:spPr>
          <a:xfrm>
            <a:off x="6086520" y="1733760"/>
            <a:ext cx="19260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Google Shape;243;p30"/>
          <p:cNvSpPr/>
          <p:nvPr/>
        </p:nvSpPr>
        <p:spPr>
          <a:xfrm>
            <a:off x="8701200" y="3293640"/>
            <a:ext cx="328320" cy="6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300" strike="noStrike" u="none">
                <a:solidFill>
                  <a:srgbClr val="b05cff"/>
                </a:solidFill>
                <a:uFillTx/>
                <a:latin typeface="Roboto Mono Light"/>
                <a:ea typeface="Roboto Mono Light"/>
              </a:rPr>
              <a:t>(</a:t>
            </a:r>
            <a:endParaRPr b="0" lang="en-US" sz="4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5" name="Google Shape;244;p30"/>
          <p:cNvSpPr/>
          <p:nvPr/>
        </p:nvSpPr>
        <p:spPr>
          <a:xfrm>
            <a:off x="14601960" y="3293640"/>
            <a:ext cx="328320" cy="65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300" strike="noStrike" u="none">
                <a:solidFill>
                  <a:srgbClr val="b05cff"/>
                </a:solidFill>
                <a:uFillTx/>
                <a:latin typeface="Roboto Mono Light"/>
                <a:ea typeface="Roboto Mono Light"/>
              </a:rPr>
              <a:t>)</a:t>
            </a:r>
            <a:endParaRPr b="0" lang="en-US" sz="4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6" name="Google Shape;245;p30"/>
          <p:cNvSpPr/>
          <p:nvPr/>
        </p:nvSpPr>
        <p:spPr>
          <a:xfrm>
            <a:off x="6551640" y="5756040"/>
            <a:ext cx="3294720" cy="19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1. BASIC SYNTAX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Google Shape;246;p30"/>
          <p:cNvSpPr/>
          <p:nvPr/>
        </p:nvSpPr>
        <p:spPr>
          <a:xfrm>
            <a:off x="6280200" y="6798600"/>
            <a:ext cx="86497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Created with parentheses enclosing comma-separated values.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Google Shape;247;p30"/>
          <p:cNvSpPr/>
          <p:nvPr/>
        </p:nvSpPr>
        <p:spPr>
          <a:xfrm>
            <a:off x="6818760" y="8187480"/>
            <a:ext cx="3340080" cy="22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2. SINGLE ITEM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9" name="Google Shape;248;p30"/>
          <p:cNvSpPr/>
          <p:nvPr/>
        </p:nvSpPr>
        <p:spPr>
          <a:xfrm>
            <a:off x="6590160" y="9415440"/>
            <a:ext cx="5965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facf37"/>
                </a:solidFill>
                <a:uFillTx/>
                <a:latin typeface="Quicksand"/>
                <a:ea typeface="Quicksand"/>
              </a:rPr>
              <a:t>The comma creates the one-item tuple.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0" name="Google Shape;249;p30"/>
          <p:cNvSpPr/>
          <p:nvPr/>
        </p:nvSpPr>
        <p:spPr>
          <a:xfrm>
            <a:off x="12848040" y="8077320"/>
            <a:ext cx="33397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3. CONSTRUCTOR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1" name="Google Shape;250;p30"/>
          <p:cNvSpPr/>
          <p:nvPr/>
        </p:nvSpPr>
        <p:spPr>
          <a:xfrm>
            <a:off x="12619440" y="9305640"/>
            <a:ext cx="340956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tuple() constructor</a:t>
            </a:r>
            <a:r>
              <a:rPr b="0" lang="en-US" sz="11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 builds tuple from any iterable.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Google Shape;251;p30"/>
          <p:cNvSpPr/>
          <p:nvPr/>
        </p:nvSpPr>
        <p:spPr>
          <a:xfrm>
            <a:off x="9501120" y="3314880"/>
            <a:ext cx="8794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index 0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3" name="Google Shape;252;p30"/>
          <p:cNvSpPr/>
          <p:nvPr/>
        </p:nvSpPr>
        <p:spPr>
          <a:xfrm>
            <a:off x="10901520" y="3314880"/>
            <a:ext cx="8794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index 1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Google Shape;253;p30"/>
          <p:cNvSpPr/>
          <p:nvPr/>
        </p:nvSpPr>
        <p:spPr>
          <a:xfrm>
            <a:off x="12244320" y="3314880"/>
            <a:ext cx="90324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index 2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Google Shape;254;p30"/>
          <p:cNvSpPr/>
          <p:nvPr/>
        </p:nvSpPr>
        <p:spPr>
          <a:xfrm>
            <a:off x="13587480" y="3314880"/>
            <a:ext cx="1171080" cy="1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index 3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6" name="Google Shape;255;p30" descr="image.png"/>
          <p:cNvPicPr/>
          <p:nvPr/>
        </p:nvPicPr>
        <p:blipFill>
          <a:blip r:embed="rId25"/>
          <a:stretch/>
        </p:blipFill>
        <p:spPr>
          <a:xfrm>
            <a:off x="6280200" y="5776920"/>
            <a:ext cx="19980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Google Shape;256;p30"/>
          <p:cNvSpPr/>
          <p:nvPr/>
        </p:nvSpPr>
        <p:spPr>
          <a:xfrm>
            <a:off x="6380280" y="6284160"/>
            <a:ext cx="853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8" name="Google Shape;257;p30"/>
          <p:cNvSpPr/>
          <p:nvPr/>
        </p:nvSpPr>
        <p:spPr>
          <a:xfrm>
            <a:off x="6808680" y="6284160"/>
            <a:ext cx="2566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"A"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9" name="Google Shape;258;p30"/>
          <p:cNvSpPr/>
          <p:nvPr/>
        </p:nvSpPr>
        <p:spPr>
          <a:xfrm>
            <a:off x="7237440" y="6284160"/>
            <a:ext cx="2566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"B"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Google Shape;259;p30"/>
          <p:cNvSpPr/>
          <p:nvPr/>
        </p:nvSpPr>
        <p:spPr>
          <a:xfrm>
            <a:off x="7666200" y="6284160"/>
            <a:ext cx="2566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"C"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1" name="Google Shape;260;p30" descr="image.png"/>
          <p:cNvPicPr/>
          <p:nvPr/>
        </p:nvPicPr>
        <p:blipFill>
          <a:blip r:embed="rId26"/>
          <a:stretch/>
        </p:blipFill>
        <p:spPr>
          <a:xfrm>
            <a:off x="6590160" y="8208000"/>
            <a:ext cx="15696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Google Shape;261;p30"/>
          <p:cNvSpPr/>
          <p:nvPr/>
        </p:nvSpPr>
        <p:spPr>
          <a:xfrm>
            <a:off x="6690240" y="8908200"/>
            <a:ext cx="853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3" name="Google Shape;262;p30"/>
          <p:cNvSpPr/>
          <p:nvPr/>
        </p:nvSpPr>
        <p:spPr>
          <a:xfrm>
            <a:off x="7119000" y="8908200"/>
            <a:ext cx="853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5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" name="Google Shape;263;p30"/>
          <p:cNvSpPr/>
          <p:nvPr/>
        </p:nvSpPr>
        <p:spPr>
          <a:xfrm>
            <a:off x="7461720" y="8908200"/>
            <a:ext cx="6570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✓ </a:t>
            </a:r>
            <a:r>
              <a:rPr b="0" lang="en-US" sz="11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Tuple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5" name="Google Shape;264;p30"/>
          <p:cNvSpPr/>
          <p:nvPr/>
        </p:nvSpPr>
        <p:spPr>
          <a:xfrm>
            <a:off x="8204760" y="8908200"/>
            <a:ext cx="853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x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Google Shape;265;p30"/>
          <p:cNvSpPr/>
          <p:nvPr/>
        </p:nvSpPr>
        <p:spPr>
          <a:xfrm>
            <a:off x="8633520" y="8908200"/>
            <a:ext cx="853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5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Google Shape;266;p30"/>
          <p:cNvSpPr/>
          <p:nvPr/>
        </p:nvSpPr>
        <p:spPr>
          <a:xfrm>
            <a:off x="8890560" y="8908200"/>
            <a:ext cx="7999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687f"/>
                </a:solidFill>
                <a:uFillTx/>
                <a:latin typeface="Roboto Mono"/>
                <a:ea typeface="Roboto Mono"/>
              </a:rPr>
              <a:t>✕ </a:t>
            </a:r>
            <a:r>
              <a:rPr b="0" lang="en-US" sz="1100" strike="noStrike" u="none">
                <a:solidFill>
                  <a:srgbClr val="ff687f"/>
                </a:solidFill>
                <a:uFillTx/>
                <a:latin typeface="Roboto Mono"/>
                <a:ea typeface="Roboto Mono"/>
              </a:rPr>
              <a:t>Integer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8" name="Google Shape;267;p30" descr="image.png"/>
          <p:cNvPicPr/>
          <p:nvPr/>
        </p:nvPicPr>
        <p:blipFill>
          <a:blip r:embed="rId27"/>
          <a:stretch/>
        </p:blipFill>
        <p:spPr>
          <a:xfrm>
            <a:off x="12619440" y="8098560"/>
            <a:ext cx="15696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Google Shape;268;p30"/>
          <p:cNvSpPr/>
          <p:nvPr/>
        </p:nvSpPr>
        <p:spPr>
          <a:xfrm>
            <a:off x="12719520" y="8798400"/>
            <a:ext cx="42840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tuple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0" name="Google Shape;269;p30"/>
          <p:cNvSpPr/>
          <p:nvPr/>
        </p:nvSpPr>
        <p:spPr>
          <a:xfrm>
            <a:off x="13319280" y="8798400"/>
            <a:ext cx="853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1" name="Google Shape;270;p30"/>
          <p:cNvSpPr/>
          <p:nvPr/>
        </p:nvSpPr>
        <p:spPr>
          <a:xfrm>
            <a:off x="13576680" y="8798400"/>
            <a:ext cx="853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2" name="Google Shape;271;p30"/>
          <p:cNvSpPr/>
          <p:nvPr/>
        </p:nvSpPr>
        <p:spPr>
          <a:xfrm>
            <a:off x="13833720" y="8798400"/>
            <a:ext cx="853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3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Google Shape;272;p30"/>
          <p:cNvSpPr/>
          <p:nvPr/>
        </p:nvSpPr>
        <p:spPr>
          <a:xfrm>
            <a:off x="14176800" y="8798400"/>
            <a:ext cx="99972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10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→ </a:t>
            </a:r>
            <a:r>
              <a:rPr b="0" i="1" lang="en-US" sz="110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(1, 2, 3)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277;p31" descr="image.png"/>
          <p:cNvPicPr/>
          <p:nvPr/>
        </p:nvPicPr>
        <p:blipFill>
          <a:blip r:embed="rId1"/>
          <a:stretch/>
        </p:blipFill>
        <p:spPr>
          <a:xfrm>
            <a:off x="514440" y="9472680"/>
            <a:ext cx="17259120" cy="442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" name="Google Shape;278;p31" descr="image.png"/>
          <p:cNvPicPr/>
          <p:nvPr/>
        </p:nvPicPr>
        <p:blipFill>
          <a:blip r:embed="rId2"/>
          <a:stretch/>
        </p:blipFill>
        <p:spPr>
          <a:xfrm>
            <a:off x="514440" y="1505160"/>
            <a:ext cx="9086400" cy="38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" name="Google Shape;279;p31" descr="image.png"/>
          <p:cNvPicPr/>
          <p:nvPr/>
        </p:nvPicPr>
        <p:blipFill>
          <a:blip r:embed="rId3"/>
          <a:stretch/>
        </p:blipFill>
        <p:spPr>
          <a:xfrm>
            <a:off x="9772560" y="1505160"/>
            <a:ext cx="8586720" cy="38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Google Shape;280;p31" descr="image.png"/>
          <p:cNvPicPr/>
          <p:nvPr/>
        </p:nvPicPr>
        <p:blipFill>
          <a:blip r:embed="rId4"/>
          <a:stretch/>
        </p:blipFill>
        <p:spPr>
          <a:xfrm>
            <a:off x="514440" y="5488920"/>
            <a:ext cx="9086400" cy="38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8" name="Google Shape;281;p31" descr="image.png"/>
          <p:cNvPicPr/>
          <p:nvPr/>
        </p:nvPicPr>
        <p:blipFill>
          <a:blip r:embed="rId5"/>
          <a:stretch/>
        </p:blipFill>
        <p:spPr>
          <a:xfrm>
            <a:off x="9772560" y="5488920"/>
            <a:ext cx="8515080" cy="38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Google Shape;282;p31" descr="image.png"/>
          <p:cNvPicPr/>
          <p:nvPr/>
        </p:nvPicPr>
        <p:blipFill>
          <a:blip r:embed="rId6"/>
          <a:stretch/>
        </p:blipFill>
        <p:spPr>
          <a:xfrm>
            <a:off x="699840" y="2457720"/>
            <a:ext cx="8658000" cy="66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Google Shape;283;p31" descr="image.png"/>
          <p:cNvPicPr/>
          <p:nvPr/>
        </p:nvPicPr>
        <p:blipFill>
          <a:blip r:embed="rId7"/>
          <a:stretch/>
        </p:blipFill>
        <p:spPr>
          <a:xfrm>
            <a:off x="728640" y="3564360"/>
            <a:ext cx="8658000" cy="98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284;p31" descr="image.png"/>
          <p:cNvPicPr/>
          <p:nvPr/>
        </p:nvPicPr>
        <p:blipFill>
          <a:blip r:embed="rId8"/>
          <a:stretch/>
        </p:blipFill>
        <p:spPr>
          <a:xfrm>
            <a:off x="10036800" y="2581560"/>
            <a:ext cx="9608040" cy="66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" name="Google Shape;285;p31" descr="image.png"/>
          <p:cNvPicPr/>
          <p:nvPr/>
        </p:nvPicPr>
        <p:blipFill>
          <a:blip r:embed="rId9"/>
          <a:stretch/>
        </p:blipFill>
        <p:spPr>
          <a:xfrm>
            <a:off x="9965520" y="3797640"/>
            <a:ext cx="9214920" cy="61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Google Shape;286;p31" descr="image.png"/>
          <p:cNvPicPr/>
          <p:nvPr/>
        </p:nvPicPr>
        <p:blipFill>
          <a:blip r:embed="rId10"/>
          <a:stretch/>
        </p:blipFill>
        <p:spPr>
          <a:xfrm>
            <a:off x="10036800" y="6496920"/>
            <a:ext cx="9322200" cy="887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287;p31" descr="image.png"/>
          <p:cNvPicPr/>
          <p:nvPr/>
        </p:nvPicPr>
        <p:blipFill>
          <a:blip r:embed="rId11"/>
          <a:stretch/>
        </p:blipFill>
        <p:spPr>
          <a:xfrm>
            <a:off x="9987120" y="7878600"/>
            <a:ext cx="8515080" cy="599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" name="Google Shape;288;p31" descr="image.png"/>
          <p:cNvPicPr/>
          <p:nvPr/>
        </p:nvPicPr>
        <p:blipFill>
          <a:blip r:embed="rId12"/>
          <a:stretch/>
        </p:blipFill>
        <p:spPr>
          <a:xfrm>
            <a:off x="728640" y="6937560"/>
            <a:ext cx="86580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" name="Google Shape;289;p31" descr="image.png"/>
          <p:cNvPicPr/>
          <p:nvPr/>
        </p:nvPicPr>
        <p:blipFill>
          <a:blip r:embed="rId13"/>
          <a:stretch/>
        </p:blipFill>
        <p:spPr>
          <a:xfrm>
            <a:off x="728640" y="7337880"/>
            <a:ext cx="86580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Google Shape;290;p31" descr="image.png"/>
          <p:cNvPicPr/>
          <p:nvPr/>
        </p:nvPicPr>
        <p:blipFill>
          <a:blip r:embed="rId14"/>
          <a:stretch/>
        </p:blipFill>
        <p:spPr>
          <a:xfrm>
            <a:off x="728640" y="7737840"/>
            <a:ext cx="8658000" cy="3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Google Shape;291;p31" descr="image.png"/>
          <p:cNvPicPr/>
          <p:nvPr/>
        </p:nvPicPr>
        <p:blipFill>
          <a:blip r:embed="rId15"/>
          <a:stretch/>
        </p:blipFill>
        <p:spPr>
          <a:xfrm>
            <a:off x="885960" y="3907080"/>
            <a:ext cx="204264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Google Shape;292;p31" descr="image.png"/>
          <p:cNvPicPr/>
          <p:nvPr/>
        </p:nvPicPr>
        <p:blipFill>
          <a:blip r:embed="rId16"/>
          <a:stretch/>
        </p:blipFill>
        <p:spPr>
          <a:xfrm>
            <a:off x="2986200" y="3907080"/>
            <a:ext cx="204264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Google Shape;293;p31" descr="image.png"/>
          <p:cNvPicPr/>
          <p:nvPr/>
        </p:nvPicPr>
        <p:blipFill>
          <a:blip r:embed="rId17"/>
          <a:stretch/>
        </p:blipFill>
        <p:spPr>
          <a:xfrm>
            <a:off x="5086440" y="3907080"/>
            <a:ext cx="204264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Google Shape;294;p31" descr="image.png"/>
          <p:cNvPicPr/>
          <p:nvPr/>
        </p:nvPicPr>
        <p:blipFill>
          <a:blip r:embed="rId18"/>
          <a:stretch/>
        </p:blipFill>
        <p:spPr>
          <a:xfrm>
            <a:off x="7186680" y="3907080"/>
            <a:ext cx="2042640" cy="299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Google Shape;295;p31"/>
          <p:cNvSpPr/>
          <p:nvPr/>
        </p:nvSpPr>
        <p:spPr>
          <a:xfrm>
            <a:off x="586080" y="250920"/>
            <a:ext cx="17773560" cy="62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1" lang="en-US" sz="36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Working with </a:t>
            </a:r>
            <a:r>
              <a:rPr b="1" lang="en-US" sz="3600" strike="noStrike" u="none">
                <a:solidFill>
                  <a:srgbClr val="b05cff"/>
                </a:solidFill>
                <a:uFillTx/>
                <a:latin typeface="Quicksand"/>
                <a:ea typeface="Quicksand"/>
              </a:rPr>
              <a:t>TUPLES</a:t>
            </a:r>
            <a:endParaRPr b="0" lang="en-US" sz="3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Google Shape;296;p31"/>
          <p:cNvSpPr/>
          <p:nvPr/>
        </p:nvSpPr>
        <p:spPr>
          <a:xfrm>
            <a:off x="514440" y="1105200"/>
            <a:ext cx="1725912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900" strike="noStrike" u="none">
                <a:solidFill>
                  <a:srgbClr val="9eadc4"/>
                </a:solidFill>
                <a:uFillTx/>
                <a:latin typeface="Quicksand Medium"/>
                <a:ea typeface="Quicksand Medium"/>
              </a:rPr>
              <a:t>Access, inspect and combine values without changing the original tuple.</a:t>
            </a: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4" name="Google Shape;297;p31"/>
          <p:cNvSpPr/>
          <p:nvPr/>
        </p:nvSpPr>
        <p:spPr>
          <a:xfrm>
            <a:off x="2014560" y="9601920"/>
            <a:ext cx="135684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ACCESS t[i] ✓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5" name="Google Shape;298;p31"/>
          <p:cNvSpPr/>
          <p:nvPr/>
        </p:nvSpPr>
        <p:spPr>
          <a:xfrm>
            <a:off x="5643720" y="9601920"/>
            <a:ext cx="14569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SLICE t[a:b] ✓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6" name="Google Shape;299;p31"/>
          <p:cNvSpPr/>
          <p:nvPr/>
        </p:nvSpPr>
        <p:spPr>
          <a:xfrm>
            <a:off x="9372600" y="9601920"/>
            <a:ext cx="185688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SEARCH item in t ✓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7" name="Google Shape;300;p31"/>
          <p:cNvSpPr/>
          <p:nvPr/>
        </p:nvSpPr>
        <p:spPr>
          <a:xfrm>
            <a:off x="13501800" y="9601920"/>
            <a:ext cx="301428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687f"/>
                </a:solidFill>
                <a:uFillTx/>
                <a:latin typeface="Roboto Mono"/>
                <a:ea typeface="Roboto Mono"/>
              </a:rPr>
              <a:t>MODIFY t[i] = x ✕ (PROHIBITED)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8" name="Google Shape;301;p31"/>
          <p:cNvSpPr/>
          <p:nvPr/>
        </p:nvSpPr>
        <p:spPr>
          <a:xfrm>
            <a:off x="2157480" y="1662840"/>
            <a:ext cx="722916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01 INDEXING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Google Shape;302;p31"/>
          <p:cNvSpPr/>
          <p:nvPr/>
        </p:nvSpPr>
        <p:spPr>
          <a:xfrm>
            <a:off x="728640" y="2005200"/>
            <a:ext cx="8658000" cy="1404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Google Shape;303;p31"/>
          <p:cNvSpPr/>
          <p:nvPr/>
        </p:nvSpPr>
        <p:spPr>
          <a:xfrm>
            <a:off x="728640" y="4959720"/>
            <a:ext cx="86580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Positive indexing starts at </a:t>
            </a:r>
            <a:r>
              <a:rPr b="1" lang="en-US" sz="1500" strike="noStrike" u="none">
                <a:solidFill>
                  <a:srgbClr val="27daef"/>
                </a:solidFill>
                <a:uFillTx/>
                <a:latin typeface="Quicksand"/>
                <a:ea typeface="Quicksand"/>
              </a:rPr>
              <a:t>0</a:t>
            </a:r>
            <a:r>
              <a:rPr b="0" lang="en-US" sz="15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. Negative indexing starts at </a:t>
            </a:r>
            <a:r>
              <a:rPr b="1" lang="en-US" sz="1500" strike="noStrike" u="none">
                <a:solidFill>
                  <a:srgbClr val="facf37"/>
                </a:solidFill>
                <a:uFillTx/>
                <a:latin typeface="Quicksand"/>
                <a:ea typeface="Quicksand"/>
              </a:rPr>
              <a:t>-1</a:t>
            </a:r>
            <a:r>
              <a:rPr b="0" lang="en-US" sz="15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.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1" name="Google Shape;304;p31"/>
          <p:cNvSpPr/>
          <p:nvPr/>
        </p:nvSpPr>
        <p:spPr>
          <a:xfrm>
            <a:off x="11337120" y="1662840"/>
            <a:ext cx="69505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02 SLICING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2" name="Google Shape;305;p31"/>
          <p:cNvSpPr/>
          <p:nvPr/>
        </p:nvSpPr>
        <p:spPr>
          <a:xfrm>
            <a:off x="9987120" y="2005200"/>
            <a:ext cx="9658080" cy="1404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3" name="Google Shape;306;p31"/>
          <p:cNvSpPr/>
          <p:nvPr/>
        </p:nvSpPr>
        <p:spPr>
          <a:xfrm>
            <a:off x="9987120" y="4960080"/>
            <a:ext cx="8300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start : stop : step</a:t>
            </a:r>
            <a:r>
              <a:rPr b="0" lang="en-US" sz="14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 syntax returns a new tuple without modifying original.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4" name="Google Shape;307;p31"/>
          <p:cNvSpPr/>
          <p:nvPr/>
        </p:nvSpPr>
        <p:spPr>
          <a:xfrm>
            <a:off x="2421720" y="5646600"/>
            <a:ext cx="696492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03 OPERATORS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Google Shape;308;p31"/>
          <p:cNvSpPr/>
          <p:nvPr/>
        </p:nvSpPr>
        <p:spPr>
          <a:xfrm>
            <a:off x="728640" y="5988960"/>
            <a:ext cx="8658000" cy="1404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6" name="Google Shape;309;p31"/>
          <p:cNvSpPr/>
          <p:nvPr/>
        </p:nvSpPr>
        <p:spPr>
          <a:xfrm>
            <a:off x="728640" y="8943840"/>
            <a:ext cx="865800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Operators build fresh sequence objects; operands remain untouched.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Google Shape;310;p31"/>
          <p:cNvSpPr/>
          <p:nvPr/>
        </p:nvSpPr>
        <p:spPr>
          <a:xfrm>
            <a:off x="11608560" y="5646600"/>
            <a:ext cx="6679080" cy="30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04 ITERATION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8" name="Google Shape;311;p31"/>
          <p:cNvSpPr/>
          <p:nvPr/>
        </p:nvSpPr>
        <p:spPr>
          <a:xfrm>
            <a:off x="9987120" y="5988960"/>
            <a:ext cx="9658080" cy="1404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7200" bIns="7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9" name="Google Shape;312;p31"/>
          <p:cNvSpPr/>
          <p:nvPr/>
        </p:nvSpPr>
        <p:spPr>
          <a:xfrm>
            <a:off x="9987120" y="8943840"/>
            <a:ext cx="83005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Tuples are iterable and can be traversed using a for-loop.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0" name="Google Shape;313;p31" descr="image.png"/>
          <p:cNvPicPr/>
          <p:nvPr/>
        </p:nvPicPr>
        <p:blipFill>
          <a:blip r:embed="rId19"/>
          <a:stretch/>
        </p:blipFill>
        <p:spPr>
          <a:xfrm>
            <a:off x="1771560" y="9615600"/>
            <a:ext cx="156960" cy="1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Google Shape;314;p31" descr="image.png"/>
          <p:cNvPicPr/>
          <p:nvPr/>
        </p:nvPicPr>
        <p:blipFill>
          <a:blip r:embed="rId20"/>
          <a:stretch/>
        </p:blipFill>
        <p:spPr>
          <a:xfrm>
            <a:off x="5400720" y="9615600"/>
            <a:ext cx="156960" cy="1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315;p31" descr="image.png"/>
          <p:cNvPicPr/>
          <p:nvPr/>
        </p:nvPicPr>
        <p:blipFill>
          <a:blip r:embed="rId21"/>
          <a:stretch/>
        </p:blipFill>
        <p:spPr>
          <a:xfrm>
            <a:off x="9129600" y="9615600"/>
            <a:ext cx="156960" cy="156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Google Shape;316;p31" descr="image.png"/>
          <p:cNvPicPr/>
          <p:nvPr/>
        </p:nvPicPr>
        <p:blipFill>
          <a:blip r:embed="rId22"/>
          <a:stretch/>
        </p:blipFill>
        <p:spPr>
          <a:xfrm>
            <a:off x="13258800" y="9615600"/>
            <a:ext cx="156960" cy="15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Google Shape;317;p31"/>
          <p:cNvSpPr/>
          <p:nvPr/>
        </p:nvSpPr>
        <p:spPr>
          <a:xfrm>
            <a:off x="900000" y="2820600"/>
            <a:ext cx="9972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5" name="Google Shape;318;p31"/>
          <p:cNvSpPr/>
          <p:nvPr/>
        </p:nvSpPr>
        <p:spPr>
          <a:xfrm>
            <a:off x="1400040" y="2820600"/>
            <a:ext cx="29952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"A"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6" name="Google Shape;319;p31"/>
          <p:cNvSpPr/>
          <p:nvPr/>
        </p:nvSpPr>
        <p:spPr>
          <a:xfrm>
            <a:off x="1900080" y="2820600"/>
            <a:ext cx="29952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"B"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7" name="Google Shape;320;p31"/>
          <p:cNvSpPr/>
          <p:nvPr/>
        </p:nvSpPr>
        <p:spPr>
          <a:xfrm>
            <a:off x="2400480" y="2820600"/>
            <a:ext cx="29952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"C"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8" name="Google Shape;321;p31"/>
          <p:cNvSpPr/>
          <p:nvPr/>
        </p:nvSpPr>
        <p:spPr>
          <a:xfrm>
            <a:off x="2900520" y="2820600"/>
            <a:ext cx="29952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"D"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9" name="Google Shape;322;p31"/>
          <p:cNvSpPr/>
          <p:nvPr/>
        </p:nvSpPr>
        <p:spPr>
          <a:xfrm>
            <a:off x="3400560" y="282060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0" name="Google Shape;323;p31"/>
          <p:cNvSpPr/>
          <p:nvPr/>
        </p:nvSpPr>
        <p:spPr>
          <a:xfrm>
            <a:off x="3600360" y="282060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0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1" name="Google Shape;324;p31"/>
          <p:cNvSpPr/>
          <p:nvPr/>
        </p:nvSpPr>
        <p:spPr>
          <a:xfrm>
            <a:off x="3900600" y="2820600"/>
            <a:ext cx="235692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→ "A" (First element)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2" name="Google Shape;325;p31"/>
          <p:cNvSpPr/>
          <p:nvPr/>
        </p:nvSpPr>
        <p:spPr>
          <a:xfrm>
            <a:off x="6357960" y="282060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3" name="Google Shape;326;p31"/>
          <p:cNvSpPr/>
          <p:nvPr/>
        </p:nvSpPr>
        <p:spPr>
          <a:xfrm>
            <a:off x="6657840" y="282060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Google Shape;327;p31"/>
          <p:cNvSpPr/>
          <p:nvPr/>
        </p:nvSpPr>
        <p:spPr>
          <a:xfrm>
            <a:off x="6958080" y="2820600"/>
            <a:ext cx="2257200" cy="2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30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→ "D" (Last element)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5" name="Google Shape;328;p31"/>
          <p:cNvSpPr/>
          <p:nvPr/>
        </p:nvSpPr>
        <p:spPr>
          <a:xfrm>
            <a:off x="10158480" y="294444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6" name="Google Shape;329;p31"/>
          <p:cNvSpPr/>
          <p:nvPr/>
        </p:nvSpPr>
        <p:spPr>
          <a:xfrm>
            <a:off x="10658520" y="2944440"/>
            <a:ext cx="19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10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7" name="Google Shape;330;p31"/>
          <p:cNvSpPr/>
          <p:nvPr/>
        </p:nvSpPr>
        <p:spPr>
          <a:xfrm>
            <a:off x="11058480" y="2944440"/>
            <a:ext cx="19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20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8" name="Google Shape;331;p31"/>
          <p:cNvSpPr/>
          <p:nvPr/>
        </p:nvSpPr>
        <p:spPr>
          <a:xfrm>
            <a:off x="11458440" y="2944440"/>
            <a:ext cx="19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30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9" name="Google Shape;332;p31"/>
          <p:cNvSpPr/>
          <p:nvPr/>
        </p:nvSpPr>
        <p:spPr>
          <a:xfrm>
            <a:off x="11858760" y="2944440"/>
            <a:ext cx="19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40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0" name="Google Shape;333;p31"/>
          <p:cNvSpPr/>
          <p:nvPr/>
        </p:nvSpPr>
        <p:spPr>
          <a:xfrm>
            <a:off x="12258720" y="2944440"/>
            <a:ext cx="19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50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1" name="Google Shape;334;p31"/>
          <p:cNvSpPr/>
          <p:nvPr/>
        </p:nvSpPr>
        <p:spPr>
          <a:xfrm>
            <a:off x="12658680" y="294444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2" name="Google Shape;335;p31"/>
          <p:cNvSpPr/>
          <p:nvPr/>
        </p:nvSpPr>
        <p:spPr>
          <a:xfrm>
            <a:off x="12858840" y="294444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3" name="Google Shape;336;p31"/>
          <p:cNvSpPr/>
          <p:nvPr/>
        </p:nvSpPr>
        <p:spPr>
          <a:xfrm>
            <a:off x="13058640" y="294444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4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4" name="Google Shape;337;p31"/>
          <p:cNvSpPr/>
          <p:nvPr/>
        </p:nvSpPr>
        <p:spPr>
          <a:xfrm>
            <a:off x="13358880" y="2944440"/>
            <a:ext cx="16570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→ (20, 30, 40)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5" name="Google Shape;338;p31"/>
          <p:cNvSpPr/>
          <p:nvPr/>
        </p:nvSpPr>
        <p:spPr>
          <a:xfrm>
            <a:off x="15116040" y="294444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6" name="Google Shape;339;p31"/>
          <p:cNvSpPr/>
          <p:nvPr/>
        </p:nvSpPr>
        <p:spPr>
          <a:xfrm>
            <a:off x="15616080" y="294444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7" name="Google Shape;340;p31"/>
          <p:cNvSpPr/>
          <p:nvPr/>
        </p:nvSpPr>
        <p:spPr>
          <a:xfrm>
            <a:off x="15916320" y="2944440"/>
            <a:ext cx="23713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20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→ (50, 40, 30, 20, 10) (Reversed)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Google Shape;341;p31"/>
          <p:cNvSpPr/>
          <p:nvPr/>
        </p:nvSpPr>
        <p:spPr>
          <a:xfrm>
            <a:off x="10876320" y="4012920"/>
            <a:ext cx="814356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|                </a:t>
            </a:r>
            <a:r>
              <a:rPr b="0" lang="en-US" sz="12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 </a:t>
            </a:r>
            <a:r>
              <a:rPr b="1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|   </a:t>
            </a:r>
            <a:r>
              <a:rPr b="0" lang="en-US" sz="12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 </a:t>
            </a:r>
            <a:r>
              <a:rPr b="0" lang="en-US" sz="12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→ (20, 30, 40)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9" name="Google Shape;342;p31"/>
          <p:cNvSpPr/>
          <p:nvPr/>
        </p:nvSpPr>
        <p:spPr>
          <a:xfrm>
            <a:off x="10158480" y="6859440"/>
            <a:ext cx="2995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for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0" name="Google Shape;343;p31"/>
          <p:cNvSpPr/>
          <p:nvPr/>
        </p:nvSpPr>
        <p:spPr>
          <a:xfrm>
            <a:off x="11058480" y="6859440"/>
            <a:ext cx="1998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in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1" name="Google Shape;344;p31"/>
          <p:cNvSpPr/>
          <p:nvPr/>
        </p:nvSpPr>
        <p:spPr>
          <a:xfrm>
            <a:off x="11358720" y="6859440"/>
            <a:ext cx="997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2" name="Google Shape;345;p31"/>
          <p:cNvSpPr/>
          <p:nvPr/>
        </p:nvSpPr>
        <p:spPr>
          <a:xfrm>
            <a:off x="11658600" y="6859440"/>
            <a:ext cx="499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print</a:t>
            </a:r>
            <a:endParaRPr b="0" lang="en-US" sz="1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3" name="Google Shape;346;p31"/>
          <p:cNvSpPr/>
          <p:nvPr/>
        </p:nvSpPr>
        <p:spPr>
          <a:xfrm>
            <a:off x="10044000" y="8059680"/>
            <a:ext cx="9214920" cy="27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   </a:t>
            </a:r>
            <a:r>
              <a:rPr b="1" lang="en-US" sz="18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A   B  C   D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74" name="Google Shape;347;p31" descr="image.png"/>
          <p:cNvPicPr/>
          <p:nvPr/>
        </p:nvPicPr>
        <p:blipFill>
          <a:blip r:embed="rId23"/>
          <a:stretch/>
        </p:blipFill>
        <p:spPr>
          <a:xfrm>
            <a:off x="728640" y="1704960"/>
            <a:ext cx="12096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Google Shape;348;p31"/>
          <p:cNvSpPr/>
          <p:nvPr/>
        </p:nvSpPr>
        <p:spPr>
          <a:xfrm>
            <a:off x="885960" y="3664440"/>
            <a:ext cx="2042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0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6" name="Google Shape;349;p31"/>
          <p:cNvSpPr/>
          <p:nvPr/>
        </p:nvSpPr>
        <p:spPr>
          <a:xfrm>
            <a:off x="2986200" y="3664440"/>
            <a:ext cx="2042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1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7" name="Google Shape;350;p31"/>
          <p:cNvSpPr/>
          <p:nvPr/>
        </p:nvSpPr>
        <p:spPr>
          <a:xfrm>
            <a:off x="5086440" y="3664440"/>
            <a:ext cx="2042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2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8" name="Google Shape;351;p31"/>
          <p:cNvSpPr/>
          <p:nvPr/>
        </p:nvSpPr>
        <p:spPr>
          <a:xfrm>
            <a:off x="7186680" y="3664440"/>
            <a:ext cx="2042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3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9" name="Google Shape;352;p31"/>
          <p:cNvSpPr/>
          <p:nvPr/>
        </p:nvSpPr>
        <p:spPr>
          <a:xfrm>
            <a:off x="885960" y="4264200"/>
            <a:ext cx="2042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-4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0" name="Google Shape;353;p31"/>
          <p:cNvSpPr/>
          <p:nvPr/>
        </p:nvSpPr>
        <p:spPr>
          <a:xfrm>
            <a:off x="2986200" y="4264200"/>
            <a:ext cx="2042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-3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1" name="Google Shape;354;p31"/>
          <p:cNvSpPr/>
          <p:nvPr/>
        </p:nvSpPr>
        <p:spPr>
          <a:xfrm>
            <a:off x="5086440" y="4264200"/>
            <a:ext cx="2042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-2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82" name="Google Shape;355;p31"/>
          <p:cNvSpPr/>
          <p:nvPr/>
        </p:nvSpPr>
        <p:spPr>
          <a:xfrm>
            <a:off x="7186680" y="4264200"/>
            <a:ext cx="204264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-1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83" name="Google Shape;356;p31" descr="image.png"/>
          <p:cNvPicPr/>
          <p:nvPr/>
        </p:nvPicPr>
        <p:blipFill>
          <a:blip r:embed="rId24"/>
          <a:stretch/>
        </p:blipFill>
        <p:spPr>
          <a:xfrm>
            <a:off x="9987120" y="1704960"/>
            <a:ext cx="1926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Google Shape;357;p31" descr="image.png"/>
          <p:cNvPicPr/>
          <p:nvPr/>
        </p:nvPicPr>
        <p:blipFill>
          <a:blip r:embed="rId25"/>
          <a:stretch/>
        </p:blipFill>
        <p:spPr>
          <a:xfrm>
            <a:off x="12872880" y="3983400"/>
            <a:ext cx="371160" cy="2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Google Shape;358;p31" descr="image.png"/>
          <p:cNvPicPr/>
          <p:nvPr/>
        </p:nvPicPr>
        <p:blipFill>
          <a:blip r:embed="rId26"/>
          <a:stretch/>
        </p:blipFill>
        <p:spPr>
          <a:xfrm>
            <a:off x="13458960" y="3969360"/>
            <a:ext cx="39960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Google Shape;359;p31" descr="image.png"/>
          <p:cNvPicPr/>
          <p:nvPr/>
        </p:nvPicPr>
        <p:blipFill>
          <a:blip r:embed="rId27"/>
          <a:stretch/>
        </p:blipFill>
        <p:spPr>
          <a:xfrm>
            <a:off x="13916160" y="3969360"/>
            <a:ext cx="39960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Google Shape;360;p31" descr="image.png"/>
          <p:cNvPicPr/>
          <p:nvPr/>
        </p:nvPicPr>
        <p:blipFill>
          <a:blip r:embed="rId28"/>
          <a:stretch/>
        </p:blipFill>
        <p:spPr>
          <a:xfrm>
            <a:off x="14373360" y="3969360"/>
            <a:ext cx="399600" cy="299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Google Shape;361;p31" descr="image.png"/>
          <p:cNvPicPr/>
          <p:nvPr/>
        </p:nvPicPr>
        <p:blipFill>
          <a:blip r:embed="rId29"/>
          <a:stretch/>
        </p:blipFill>
        <p:spPr>
          <a:xfrm>
            <a:off x="14987520" y="3983400"/>
            <a:ext cx="371160" cy="27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Google Shape;362;p31" descr="image.png"/>
          <p:cNvPicPr/>
          <p:nvPr/>
        </p:nvPicPr>
        <p:blipFill>
          <a:blip r:embed="rId30"/>
          <a:stretch/>
        </p:blipFill>
        <p:spPr>
          <a:xfrm>
            <a:off x="728640" y="5688720"/>
            <a:ext cx="149760" cy="18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Google Shape;363;p31"/>
          <p:cNvSpPr/>
          <p:nvPr/>
        </p:nvSpPr>
        <p:spPr>
          <a:xfrm>
            <a:off x="857160" y="7009200"/>
            <a:ext cx="1942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5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CONCATENATION</a:t>
            </a:r>
            <a:endParaRPr b="0" lang="en-US" sz="1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1" name="Google Shape;364;p31"/>
          <p:cNvSpPr/>
          <p:nvPr/>
        </p:nvSpPr>
        <p:spPr>
          <a:xfrm>
            <a:off x="5717520" y="7022880"/>
            <a:ext cx="37666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(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, 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) + (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3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, 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4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) → </a:t>
            </a:r>
            <a:r>
              <a:rPr b="0" lang="en-US" sz="14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(1, 2, 3, 4)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2" name="Google Shape;365;p31"/>
          <p:cNvSpPr/>
          <p:nvPr/>
        </p:nvSpPr>
        <p:spPr>
          <a:xfrm>
            <a:off x="857160" y="7409160"/>
            <a:ext cx="2071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REPETITION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3" name="Google Shape;366;p31"/>
          <p:cNvSpPr/>
          <p:nvPr/>
        </p:nvSpPr>
        <p:spPr>
          <a:xfrm>
            <a:off x="6201000" y="7401600"/>
            <a:ext cx="279972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(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, 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) * 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 → </a:t>
            </a:r>
            <a:r>
              <a:rPr b="0" lang="en-US" sz="14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(1, 2, 1, 2)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4" name="Google Shape;367;p31"/>
          <p:cNvSpPr/>
          <p:nvPr/>
        </p:nvSpPr>
        <p:spPr>
          <a:xfrm>
            <a:off x="857160" y="7809120"/>
            <a:ext cx="20714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MEMBERSHIP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5" name="Google Shape;368;p31"/>
          <p:cNvSpPr/>
          <p:nvPr/>
        </p:nvSpPr>
        <p:spPr>
          <a:xfrm>
            <a:off x="6579360" y="7779960"/>
            <a:ext cx="242136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 in (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, 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, </a:t>
            </a: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3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) → </a:t>
            </a:r>
            <a:r>
              <a:rPr b="0" lang="en-US" sz="14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True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96" name="Google Shape;369;p31" descr="image.png"/>
          <p:cNvPicPr/>
          <p:nvPr/>
        </p:nvPicPr>
        <p:blipFill>
          <a:blip r:embed="rId31"/>
          <a:stretch/>
        </p:blipFill>
        <p:spPr>
          <a:xfrm>
            <a:off x="9987120" y="5688720"/>
            <a:ext cx="192600" cy="18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Google Shape;370;p31" descr="image.png"/>
          <p:cNvPicPr/>
          <p:nvPr/>
        </p:nvPicPr>
        <p:blipFill>
          <a:blip r:embed="rId32"/>
          <a:stretch/>
        </p:blipFill>
        <p:spPr>
          <a:xfrm>
            <a:off x="14316120" y="8114400"/>
            <a:ext cx="114120" cy="1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Google Shape;371;p31" descr="image.png"/>
          <p:cNvPicPr/>
          <p:nvPr/>
        </p:nvPicPr>
        <p:blipFill>
          <a:blip r:embed="rId33"/>
          <a:stretch/>
        </p:blipFill>
        <p:spPr>
          <a:xfrm>
            <a:off x="14758920" y="8114400"/>
            <a:ext cx="114120" cy="12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9" name="Google Shape;372;p31" descr="image.png"/>
          <p:cNvPicPr/>
          <p:nvPr/>
        </p:nvPicPr>
        <p:blipFill>
          <a:blip r:embed="rId34"/>
          <a:stretch/>
        </p:blipFill>
        <p:spPr>
          <a:xfrm>
            <a:off x="15202080" y="8114400"/>
            <a:ext cx="114120" cy="128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377;p32" descr="image.png"/>
          <p:cNvPicPr/>
          <p:nvPr/>
        </p:nvPicPr>
        <p:blipFill>
          <a:blip r:embed="rId1"/>
          <a:stretch/>
        </p:blipFill>
        <p:spPr>
          <a:xfrm>
            <a:off x="3011400" y="1321200"/>
            <a:ext cx="12828600" cy="2019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1" name="Google Shape;378;p32" descr="image.png"/>
          <p:cNvPicPr/>
          <p:nvPr/>
        </p:nvPicPr>
        <p:blipFill>
          <a:blip r:embed="rId2"/>
          <a:stretch/>
        </p:blipFill>
        <p:spPr>
          <a:xfrm>
            <a:off x="2984400" y="3688560"/>
            <a:ext cx="12828600" cy="2172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2" name="Google Shape;379;p32" descr="image.png"/>
          <p:cNvPicPr/>
          <p:nvPr/>
        </p:nvPicPr>
        <p:blipFill>
          <a:blip r:embed="rId3"/>
          <a:stretch/>
        </p:blipFill>
        <p:spPr>
          <a:xfrm>
            <a:off x="5042880" y="6208920"/>
            <a:ext cx="8711640" cy="15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3" name="Google Shape;380;p32" descr="image.png"/>
          <p:cNvPicPr/>
          <p:nvPr/>
        </p:nvPicPr>
        <p:blipFill>
          <a:blip r:embed="rId4"/>
          <a:stretch/>
        </p:blipFill>
        <p:spPr>
          <a:xfrm>
            <a:off x="10083240" y="8208000"/>
            <a:ext cx="7849080" cy="16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4" name="Google Shape;381;p32" descr="image.png"/>
          <p:cNvPicPr/>
          <p:nvPr/>
        </p:nvPicPr>
        <p:blipFill>
          <a:blip r:embed="rId5"/>
          <a:stretch/>
        </p:blipFill>
        <p:spPr>
          <a:xfrm>
            <a:off x="627480" y="8208000"/>
            <a:ext cx="8304120" cy="1660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Google Shape;382;p32" descr="image.png"/>
          <p:cNvPicPr/>
          <p:nvPr/>
        </p:nvPicPr>
        <p:blipFill>
          <a:blip r:embed="rId6"/>
          <a:stretch/>
        </p:blipFill>
        <p:spPr>
          <a:xfrm>
            <a:off x="3282120" y="2071080"/>
            <a:ext cx="12287160" cy="79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6" name="Google Shape;383;p32" descr="image.png"/>
          <p:cNvPicPr/>
          <p:nvPr/>
        </p:nvPicPr>
        <p:blipFill>
          <a:blip r:embed="rId7"/>
          <a:stretch/>
        </p:blipFill>
        <p:spPr>
          <a:xfrm>
            <a:off x="3272040" y="4495320"/>
            <a:ext cx="12253680" cy="85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7" name="Google Shape;384;p32" descr="image.png"/>
          <p:cNvPicPr/>
          <p:nvPr/>
        </p:nvPicPr>
        <p:blipFill>
          <a:blip r:embed="rId8"/>
          <a:stretch/>
        </p:blipFill>
        <p:spPr>
          <a:xfrm>
            <a:off x="5222160" y="6706800"/>
            <a:ext cx="8353080" cy="68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Google Shape;385;p32" descr="image.png"/>
          <p:cNvPicPr/>
          <p:nvPr/>
        </p:nvPicPr>
        <p:blipFill>
          <a:blip r:embed="rId9"/>
          <a:srcRect l="0" t="0" r="-4499" b="0"/>
          <a:stretch/>
        </p:blipFill>
        <p:spPr>
          <a:xfrm>
            <a:off x="10619280" y="8831160"/>
            <a:ext cx="7483680" cy="655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Google Shape;386;p32" descr="image.png"/>
          <p:cNvPicPr/>
          <p:nvPr/>
        </p:nvPicPr>
        <p:blipFill>
          <a:blip r:embed="rId10"/>
          <a:stretch/>
        </p:blipFill>
        <p:spPr>
          <a:xfrm>
            <a:off x="855000" y="8795880"/>
            <a:ext cx="7849080" cy="65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Google Shape;387;p32"/>
          <p:cNvSpPr/>
          <p:nvPr/>
        </p:nvSpPr>
        <p:spPr>
          <a:xfrm>
            <a:off x="538920" y="480600"/>
            <a:ext cx="177735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1" lang="en-US" sz="35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Beyond the </a:t>
            </a:r>
            <a:r>
              <a:rPr b="1" lang="en-US" sz="3500" strike="noStrike" u="none">
                <a:solidFill>
                  <a:srgbClr val="b05cff"/>
                </a:solidFill>
                <a:uFillTx/>
                <a:latin typeface="Quicksand"/>
                <a:ea typeface="Quicksand"/>
              </a:rPr>
              <a:t>BASICS</a:t>
            </a:r>
            <a:endParaRPr b="0" lang="en-US" sz="35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1" name="Google Shape;388;p32"/>
          <p:cNvSpPr/>
          <p:nvPr/>
        </p:nvSpPr>
        <p:spPr>
          <a:xfrm>
            <a:off x="5906520" y="1510200"/>
            <a:ext cx="9663120" cy="40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62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                </a:t>
            </a:r>
            <a:r>
              <a:rPr b="1" lang="en-US" sz="262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TUPLE METHODS</a:t>
            </a:r>
            <a:endParaRPr b="0" lang="en-US" sz="26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2" name="Google Shape;389;p32"/>
          <p:cNvSpPr/>
          <p:nvPr/>
        </p:nvSpPr>
        <p:spPr>
          <a:xfrm>
            <a:off x="3282120" y="1967040"/>
            <a:ext cx="12287520" cy="2052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99800" rIns="199800" tIns="10440" bIns="10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3" name="Google Shape;390;p32"/>
          <p:cNvSpPr/>
          <p:nvPr/>
        </p:nvSpPr>
        <p:spPr>
          <a:xfrm>
            <a:off x="3282120" y="2904120"/>
            <a:ext cx="12287520" cy="24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52e28b"/>
                </a:solidFill>
                <a:uFillTx/>
                <a:latin typeface="Quicksand"/>
                <a:ea typeface="Quicksand"/>
              </a:rPr>
              <a:t>These are the only two built-in methods on Tuple objects.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4" name="Google Shape;391;p32"/>
          <p:cNvSpPr/>
          <p:nvPr/>
        </p:nvSpPr>
        <p:spPr>
          <a:xfrm>
            <a:off x="6667200" y="3891960"/>
            <a:ext cx="8858520" cy="43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82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282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BUILT-IN FUNCTIONS</a:t>
            </a:r>
            <a:endParaRPr b="0" lang="en-US" sz="28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5" name="Google Shape;392;p32"/>
          <p:cNvSpPr/>
          <p:nvPr/>
        </p:nvSpPr>
        <p:spPr>
          <a:xfrm>
            <a:off x="3272040" y="4383000"/>
            <a:ext cx="12252960" cy="2232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14920" rIns="214920" tIns="11160" bIns="111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6" name="Google Shape;393;p32"/>
          <p:cNvSpPr/>
          <p:nvPr/>
        </p:nvSpPr>
        <p:spPr>
          <a:xfrm>
            <a:off x="3272040" y="5391360"/>
            <a:ext cx="1225296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facf37"/>
                </a:solidFill>
                <a:uFillTx/>
                <a:latin typeface="Quicksand"/>
                <a:ea typeface="Quicksand"/>
              </a:rPr>
              <a:t>These are Python built-in functions, NOT Tuple methods.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7" name="Google Shape;394;p32"/>
          <p:cNvSpPr/>
          <p:nvPr/>
        </p:nvSpPr>
        <p:spPr>
          <a:xfrm>
            <a:off x="6477120" y="6329880"/>
            <a:ext cx="7097760" cy="38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510" strike="noStrike" u="none">
                <a:solidFill>
                  <a:srgbClr val="27dae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2510" strike="noStrike" u="none">
                <a:solidFill>
                  <a:srgbClr val="27daef"/>
                </a:solidFill>
                <a:uFillTx/>
                <a:latin typeface="Quicksand"/>
                <a:ea typeface="Quicksand"/>
              </a:rPr>
              <a:t>SWAPPING</a:t>
            </a:r>
            <a:endParaRPr b="0" lang="en-US" sz="251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8" name="Google Shape;395;p32"/>
          <p:cNvSpPr/>
          <p:nvPr/>
        </p:nvSpPr>
        <p:spPr>
          <a:xfrm>
            <a:off x="5222160" y="7436160"/>
            <a:ext cx="8353080" cy="23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52e28b"/>
                </a:solidFill>
                <a:uFillTx/>
                <a:latin typeface="Quicksand"/>
                <a:ea typeface="Quicksand"/>
              </a:rPr>
              <a:t>a: 10 → 20  |  b: 20 → 10</a:t>
            </a:r>
            <a:endParaRPr b="0" lang="en-US" sz="15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19" name="Google Shape;396;p32"/>
          <p:cNvSpPr/>
          <p:nvPr/>
        </p:nvSpPr>
        <p:spPr>
          <a:xfrm>
            <a:off x="12811680" y="8405640"/>
            <a:ext cx="4848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39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239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NESTED TUPLES</a:t>
            </a:r>
            <a:endParaRPr b="0" lang="en-US" sz="2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0" name="Google Shape;397;p32"/>
          <p:cNvSpPr/>
          <p:nvPr/>
        </p:nvSpPr>
        <p:spPr>
          <a:xfrm>
            <a:off x="10631160" y="8764920"/>
            <a:ext cx="7029000" cy="1872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160" rIns="182160"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1" name="Google Shape;398;p32"/>
          <p:cNvSpPr/>
          <p:nvPr/>
        </p:nvSpPr>
        <p:spPr>
          <a:xfrm>
            <a:off x="10631160" y="9534600"/>
            <a:ext cx="702900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9eadc4"/>
                </a:solidFill>
                <a:uFillTx/>
                <a:latin typeface="Quicksand"/>
                <a:ea typeface="Quicksand"/>
              </a:rPr>
              <a:t>[0] accesses inner tuple, [1] accesses value.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2" name="Google Shape;399;p32"/>
          <p:cNvSpPr/>
          <p:nvPr/>
        </p:nvSpPr>
        <p:spPr>
          <a:xfrm>
            <a:off x="3490200" y="8361000"/>
            <a:ext cx="52135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390" strike="noStrike" u="none">
                <a:solidFill>
                  <a:srgbClr val="facf37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2390" strike="noStrike" u="none">
                <a:solidFill>
                  <a:srgbClr val="facf37"/>
                </a:solidFill>
                <a:uFillTx/>
                <a:latin typeface="Quicksand"/>
                <a:ea typeface="Quicksand"/>
              </a:rPr>
              <a:t>MUTABILITY NUANCE</a:t>
            </a:r>
            <a:endParaRPr b="0" lang="en-US" sz="239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3" name="Google Shape;400;p32"/>
          <p:cNvSpPr/>
          <p:nvPr/>
        </p:nvSpPr>
        <p:spPr>
          <a:xfrm>
            <a:off x="855000" y="8719920"/>
            <a:ext cx="7849080" cy="1872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160" rIns="182160" tIns="9360" bIns="936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4" name="Google Shape;401;p32"/>
          <p:cNvSpPr/>
          <p:nvPr/>
        </p:nvSpPr>
        <p:spPr>
          <a:xfrm>
            <a:off x="855000" y="9489600"/>
            <a:ext cx="784908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Quicksand"/>
                <a:ea typeface="Quicksand"/>
              </a:rPr>
              <a:t>Immutable tuple ≠ immutable objects inside it.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25" name="Google Shape;402;p32" descr="image.png"/>
          <p:cNvPicPr/>
          <p:nvPr/>
        </p:nvPicPr>
        <p:blipFill>
          <a:blip r:embed="rId11"/>
          <a:stretch/>
        </p:blipFill>
        <p:spPr>
          <a:xfrm>
            <a:off x="13487040" y="1508760"/>
            <a:ext cx="2082240" cy="39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6" name="Google Shape;403;p32"/>
          <p:cNvSpPr/>
          <p:nvPr/>
        </p:nvSpPr>
        <p:spPr>
          <a:xfrm>
            <a:off x="3469680" y="2466720"/>
            <a:ext cx="1249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7" name="Google Shape;404;p32"/>
          <p:cNvSpPr/>
          <p:nvPr/>
        </p:nvSpPr>
        <p:spPr>
          <a:xfrm>
            <a:off x="3719520" y="2466720"/>
            <a:ext cx="6246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count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8" name="Google Shape;405;p32"/>
          <p:cNvSpPr/>
          <p:nvPr/>
        </p:nvSpPr>
        <p:spPr>
          <a:xfrm>
            <a:off x="4844160" y="2466720"/>
            <a:ext cx="45817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→ Number of occurrences of value x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9" name="Google Shape;406;p32"/>
          <p:cNvSpPr/>
          <p:nvPr/>
        </p:nvSpPr>
        <p:spPr>
          <a:xfrm>
            <a:off x="9551160" y="2466720"/>
            <a:ext cx="12492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0" name="Google Shape;407;p32"/>
          <p:cNvSpPr/>
          <p:nvPr/>
        </p:nvSpPr>
        <p:spPr>
          <a:xfrm>
            <a:off x="9801000" y="2466720"/>
            <a:ext cx="6246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index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1" name="Google Shape;408;p32"/>
          <p:cNvSpPr/>
          <p:nvPr/>
        </p:nvSpPr>
        <p:spPr>
          <a:xfrm>
            <a:off x="10925640" y="2466720"/>
            <a:ext cx="445680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60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→ First matching index of value x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32" name="Google Shape;409;p32" descr="image.png"/>
          <p:cNvPicPr/>
          <p:nvPr/>
        </p:nvPicPr>
        <p:blipFill>
          <a:blip r:embed="rId12"/>
          <a:stretch/>
        </p:blipFill>
        <p:spPr>
          <a:xfrm>
            <a:off x="13048560" y="3890160"/>
            <a:ext cx="2477160" cy="42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Google Shape;410;p32"/>
          <p:cNvSpPr/>
          <p:nvPr/>
        </p:nvSpPr>
        <p:spPr>
          <a:xfrm>
            <a:off x="3471120" y="4920840"/>
            <a:ext cx="3974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len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4" name="Google Shape;411;p32"/>
          <p:cNvSpPr/>
          <p:nvPr/>
        </p:nvSpPr>
        <p:spPr>
          <a:xfrm>
            <a:off x="4001760" y="4920840"/>
            <a:ext cx="132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5" name="Google Shape;412;p32"/>
          <p:cNvSpPr/>
          <p:nvPr/>
        </p:nvSpPr>
        <p:spPr>
          <a:xfrm>
            <a:off x="4399920" y="4920840"/>
            <a:ext cx="10616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729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Length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6" name="Google Shape;413;p32"/>
          <p:cNvSpPr/>
          <p:nvPr/>
        </p:nvSpPr>
        <p:spPr>
          <a:xfrm>
            <a:off x="5594400" y="4920840"/>
            <a:ext cx="39744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min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7" name="Google Shape;414;p32"/>
          <p:cNvSpPr/>
          <p:nvPr/>
        </p:nvSpPr>
        <p:spPr>
          <a:xfrm>
            <a:off x="6125400" y="4920840"/>
            <a:ext cx="132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8" name="Google Shape;415;p32"/>
          <p:cNvSpPr/>
          <p:nvPr/>
        </p:nvSpPr>
        <p:spPr>
          <a:xfrm>
            <a:off x="6523560" y="4920840"/>
            <a:ext cx="11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729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Minimum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39" name="Google Shape;416;p32"/>
          <p:cNvSpPr/>
          <p:nvPr/>
        </p:nvSpPr>
        <p:spPr>
          <a:xfrm>
            <a:off x="7850520" y="4920840"/>
            <a:ext cx="39744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max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0" name="Google Shape;417;p32"/>
          <p:cNvSpPr/>
          <p:nvPr/>
        </p:nvSpPr>
        <p:spPr>
          <a:xfrm>
            <a:off x="8381520" y="4920840"/>
            <a:ext cx="132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1" name="Google Shape;418;p32"/>
          <p:cNvSpPr/>
          <p:nvPr/>
        </p:nvSpPr>
        <p:spPr>
          <a:xfrm>
            <a:off x="8779680" y="4920840"/>
            <a:ext cx="1194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729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Maximum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2" name="Google Shape;419;p32"/>
          <p:cNvSpPr/>
          <p:nvPr/>
        </p:nvSpPr>
        <p:spPr>
          <a:xfrm>
            <a:off x="10106640" y="4920840"/>
            <a:ext cx="397440" cy="73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sum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3" name="Google Shape;420;p32"/>
          <p:cNvSpPr/>
          <p:nvPr/>
        </p:nvSpPr>
        <p:spPr>
          <a:xfrm>
            <a:off x="10637640" y="4920840"/>
            <a:ext cx="13212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729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4" name="Google Shape;421;p32"/>
          <p:cNvSpPr/>
          <p:nvPr/>
        </p:nvSpPr>
        <p:spPr>
          <a:xfrm>
            <a:off x="11035800" y="4920840"/>
            <a:ext cx="1459080" cy="36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729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Total sum</a:t>
            </a:r>
            <a:endParaRPr b="0" lang="en-US" sz="1729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5" name="Google Shape;422;p32"/>
          <p:cNvSpPr/>
          <p:nvPr/>
        </p:nvSpPr>
        <p:spPr>
          <a:xfrm>
            <a:off x="5341680" y="7051680"/>
            <a:ext cx="11916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a</a:t>
            </a:r>
            <a:endParaRPr b="0" lang="en-US" sz="15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6" name="Google Shape;423;p32"/>
          <p:cNvSpPr/>
          <p:nvPr/>
        </p:nvSpPr>
        <p:spPr>
          <a:xfrm>
            <a:off x="5700240" y="7051680"/>
            <a:ext cx="11916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b</a:t>
            </a:r>
            <a:endParaRPr b="0" lang="en-US" sz="15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7" name="Google Shape;424;p32"/>
          <p:cNvSpPr/>
          <p:nvPr/>
        </p:nvSpPr>
        <p:spPr>
          <a:xfrm>
            <a:off x="6178320" y="7051680"/>
            <a:ext cx="23904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10</a:t>
            </a:r>
            <a:endParaRPr b="0" lang="en-US" sz="15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8" name="Google Shape;425;p32"/>
          <p:cNvSpPr/>
          <p:nvPr/>
        </p:nvSpPr>
        <p:spPr>
          <a:xfrm>
            <a:off x="6656760" y="7051680"/>
            <a:ext cx="23904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20</a:t>
            </a:r>
            <a:endParaRPr b="0" lang="en-US" sz="15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9" name="Google Shape;426;p32"/>
          <p:cNvSpPr/>
          <p:nvPr/>
        </p:nvSpPr>
        <p:spPr>
          <a:xfrm>
            <a:off x="7134840" y="7051680"/>
            <a:ext cx="11916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a</a:t>
            </a:r>
            <a:endParaRPr b="0" lang="en-US" sz="15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0" name="Google Shape;427;p32"/>
          <p:cNvSpPr/>
          <p:nvPr/>
        </p:nvSpPr>
        <p:spPr>
          <a:xfrm>
            <a:off x="7493400" y="7051680"/>
            <a:ext cx="11916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b</a:t>
            </a:r>
            <a:endParaRPr b="0" lang="en-US" sz="15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1" name="Google Shape;428;p32"/>
          <p:cNvSpPr/>
          <p:nvPr/>
        </p:nvSpPr>
        <p:spPr>
          <a:xfrm>
            <a:off x="7971480" y="7051680"/>
            <a:ext cx="11916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b</a:t>
            </a:r>
            <a:endParaRPr b="0" lang="en-US" sz="15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2" name="Google Shape;429;p32"/>
          <p:cNvSpPr/>
          <p:nvPr/>
        </p:nvSpPr>
        <p:spPr>
          <a:xfrm>
            <a:off x="8330400" y="7051680"/>
            <a:ext cx="119160" cy="32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54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a</a:t>
            </a:r>
            <a:endParaRPr b="0" lang="en-US" sz="154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3" name="Google Shape;430;p32"/>
          <p:cNvSpPr/>
          <p:nvPr/>
        </p:nvSpPr>
        <p:spPr>
          <a:xfrm>
            <a:off x="10764000" y="9168480"/>
            <a:ext cx="4546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data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4" name="Google Shape;431;p32"/>
          <p:cNvSpPr/>
          <p:nvPr/>
        </p:nvSpPr>
        <p:spPr>
          <a:xfrm>
            <a:off x="11787840" y="9168480"/>
            <a:ext cx="3409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"A"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5" name="Google Shape;432;p32"/>
          <p:cNvSpPr/>
          <p:nvPr/>
        </p:nvSpPr>
        <p:spPr>
          <a:xfrm>
            <a:off x="12356640" y="9168480"/>
            <a:ext cx="2275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90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6" name="Google Shape;433;p32"/>
          <p:cNvSpPr/>
          <p:nvPr/>
        </p:nvSpPr>
        <p:spPr>
          <a:xfrm>
            <a:off x="13039200" y="9168480"/>
            <a:ext cx="3409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"B"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7" name="Google Shape;434;p32"/>
          <p:cNvSpPr/>
          <p:nvPr/>
        </p:nvSpPr>
        <p:spPr>
          <a:xfrm>
            <a:off x="13608000" y="9168480"/>
            <a:ext cx="22752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85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8" name="Google Shape;435;p32"/>
          <p:cNvSpPr/>
          <p:nvPr/>
        </p:nvSpPr>
        <p:spPr>
          <a:xfrm>
            <a:off x="14176800" y="9168480"/>
            <a:ext cx="4546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data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9" name="Google Shape;436;p32"/>
          <p:cNvSpPr/>
          <p:nvPr/>
        </p:nvSpPr>
        <p:spPr>
          <a:xfrm>
            <a:off x="14745600" y="9168480"/>
            <a:ext cx="1134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0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0" name="Google Shape;437;p32"/>
          <p:cNvSpPr/>
          <p:nvPr/>
        </p:nvSpPr>
        <p:spPr>
          <a:xfrm>
            <a:off x="15086880" y="9168480"/>
            <a:ext cx="1134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1" name="Google Shape;438;p32"/>
          <p:cNvSpPr/>
          <p:nvPr/>
        </p:nvSpPr>
        <p:spPr>
          <a:xfrm>
            <a:off x="15428160" y="9168480"/>
            <a:ext cx="74844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46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→ 90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62" name="Google Shape;439;p32" descr="image.png"/>
          <p:cNvPicPr/>
          <p:nvPr/>
        </p:nvPicPr>
        <p:blipFill>
          <a:blip r:embed="rId13"/>
          <a:stretch/>
        </p:blipFill>
        <p:spPr>
          <a:xfrm>
            <a:off x="7642440" y="8359920"/>
            <a:ext cx="1061280" cy="32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Google Shape;440;p32"/>
          <p:cNvSpPr/>
          <p:nvPr/>
        </p:nvSpPr>
        <p:spPr>
          <a:xfrm>
            <a:off x="987840" y="9123840"/>
            <a:ext cx="1134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4" name="Google Shape;441;p32"/>
          <p:cNvSpPr/>
          <p:nvPr/>
        </p:nvSpPr>
        <p:spPr>
          <a:xfrm>
            <a:off x="1670400" y="9123840"/>
            <a:ext cx="1134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5" name="Google Shape;442;p32"/>
          <p:cNvSpPr/>
          <p:nvPr/>
        </p:nvSpPr>
        <p:spPr>
          <a:xfrm>
            <a:off x="2011320" y="9123840"/>
            <a:ext cx="1134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2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6" name="Google Shape;443;p32"/>
          <p:cNvSpPr/>
          <p:nvPr/>
        </p:nvSpPr>
        <p:spPr>
          <a:xfrm>
            <a:off x="2466360" y="9123840"/>
            <a:ext cx="1134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3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7" name="Google Shape;444;p32"/>
          <p:cNvSpPr/>
          <p:nvPr/>
        </p:nvSpPr>
        <p:spPr>
          <a:xfrm>
            <a:off x="2921400" y="9123840"/>
            <a:ext cx="1134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t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8" name="Google Shape;445;p32"/>
          <p:cNvSpPr/>
          <p:nvPr/>
        </p:nvSpPr>
        <p:spPr>
          <a:xfrm>
            <a:off x="3148920" y="9123840"/>
            <a:ext cx="1134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0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69" name="Google Shape;446;p32"/>
          <p:cNvSpPr/>
          <p:nvPr/>
        </p:nvSpPr>
        <p:spPr>
          <a:xfrm>
            <a:off x="3490200" y="9123840"/>
            <a:ext cx="68256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f687f"/>
                </a:solidFill>
                <a:uFillTx/>
                <a:latin typeface="Roboto Mono Medium"/>
                <a:ea typeface="Roboto Mono Medium"/>
              </a:rPr>
              <a:t>append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0" name="Google Shape;447;p32"/>
          <p:cNvSpPr/>
          <p:nvPr/>
        </p:nvSpPr>
        <p:spPr>
          <a:xfrm>
            <a:off x="4286520" y="9123840"/>
            <a:ext cx="11340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46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4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1" name="Google Shape;448;p32"/>
          <p:cNvSpPr/>
          <p:nvPr/>
        </p:nvSpPr>
        <p:spPr>
          <a:xfrm>
            <a:off x="4627800" y="9123840"/>
            <a:ext cx="3943080" cy="31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46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Result: ([1, 2, 4], 3) ✓ Allowed</a:t>
            </a:r>
            <a:endParaRPr b="0" lang="en-US" sz="146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72" name="Google Shape;449;p32" descr="image.png"/>
          <p:cNvPicPr/>
          <p:nvPr/>
        </p:nvPicPr>
        <p:blipFill>
          <a:blip r:embed="rId14"/>
          <a:stretch/>
        </p:blipFill>
        <p:spPr>
          <a:xfrm>
            <a:off x="3282120" y="1571400"/>
            <a:ext cx="280800" cy="270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Google Shape;450;p32" descr="image.png"/>
          <p:cNvPicPr/>
          <p:nvPr/>
        </p:nvPicPr>
        <p:blipFill>
          <a:blip r:embed="rId15"/>
          <a:stretch/>
        </p:blipFill>
        <p:spPr>
          <a:xfrm>
            <a:off x="3272040" y="3957480"/>
            <a:ext cx="364680" cy="29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Google Shape;451;p32" descr="image.png"/>
          <p:cNvPicPr/>
          <p:nvPr/>
        </p:nvPicPr>
        <p:blipFill>
          <a:blip r:embed="rId16"/>
          <a:stretch/>
        </p:blipFill>
        <p:spPr>
          <a:xfrm>
            <a:off x="5222160" y="6388200"/>
            <a:ext cx="198720" cy="198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5" name="Google Shape;452;p32" descr="image.png"/>
          <p:cNvPicPr/>
          <p:nvPr/>
        </p:nvPicPr>
        <p:blipFill>
          <a:blip r:embed="rId17"/>
          <a:stretch/>
        </p:blipFill>
        <p:spPr>
          <a:xfrm>
            <a:off x="10631160" y="8442360"/>
            <a:ext cx="293400" cy="24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Google Shape;453;p32" descr="image.png"/>
          <p:cNvPicPr/>
          <p:nvPr/>
        </p:nvPicPr>
        <p:blipFill>
          <a:blip r:embed="rId18"/>
          <a:stretch/>
        </p:blipFill>
        <p:spPr>
          <a:xfrm>
            <a:off x="855000" y="8397720"/>
            <a:ext cx="255600" cy="246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30b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458;p33" descr="image.png"/>
          <p:cNvPicPr/>
          <p:nvPr/>
        </p:nvPicPr>
        <p:blipFill>
          <a:blip r:embed="rId1"/>
          <a:stretch/>
        </p:blipFill>
        <p:spPr>
          <a:xfrm>
            <a:off x="9891000" y="1593720"/>
            <a:ext cx="8080920" cy="5081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Google Shape;459;p33" descr="image.png"/>
          <p:cNvPicPr/>
          <p:nvPr/>
        </p:nvPicPr>
        <p:blipFill>
          <a:blip r:embed="rId2"/>
          <a:stretch/>
        </p:blipFill>
        <p:spPr>
          <a:xfrm>
            <a:off x="717480" y="6802200"/>
            <a:ext cx="938016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9" name="Google Shape;460;p33" descr="image.png"/>
          <p:cNvPicPr/>
          <p:nvPr/>
        </p:nvPicPr>
        <p:blipFill>
          <a:blip r:embed="rId3"/>
          <a:stretch/>
        </p:blipFill>
        <p:spPr>
          <a:xfrm>
            <a:off x="10129680" y="2370600"/>
            <a:ext cx="7603200" cy="136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0" name="Google Shape;461;p33" descr="image.png"/>
          <p:cNvPicPr/>
          <p:nvPr/>
        </p:nvPicPr>
        <p:blipFill>
          <a:blip r:embed="rId4"/>
          <a:stretch/>
        </p:blipFill>
        <p:spPr>
          <a:xfrm>
            <a:off x="10129680" y="3863160"/>
            <a:ext cx="7603200" cy="171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1" name="Google Shape;462;p33" descr="image.png"/>
          <p:cNvPicPr/>
          <p:nvPr/>
        </p:nvPicPr>
        <p:blipFill>
          <a:blip r:embed="rId5"/>
          <a:stretch/>
        </p:blipFill>
        <p:spPr>
          <a:xfrm>
            <a:off x="10272960" y="2881800"/>
            <a:ext cx="7316640" cy="735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Google Shape;463;p33" descr="image.png"/>
          <p:cNvPicPr/>
          <p:nvPr/>
        </p:nvPicPr>
        <p:blipFill>
          <a:blip r:embed="rId6"/>
          <a:stretch/>
        </p:blipFill>
        <p:spPr>
          <a:xfrm>
            <a:off x="10272960" y="4374360"/>
            <a:ext cx="7316640" cy="73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3" name="Google Shape;464;p33"/>
          <p:cNvSpPr/>
          <p:nvPr/>
        </p:nvSpPr>
        <p:spPr>
          <a:xfrm>
            <a:off x="785880" y="371520"/>
            <a:ext cx="169873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4" name="Google Shape;465;p33"/>
          <p:cNvSpPr/>
          <p:nvPr/>
        </p:nvSpPr>
        <p:spPr>
          <a:xfrm>
            <a:off x="514440" y="600120"/>
            <a:ext cx="17773200" cy="57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4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The </a:t>
            </a:r>
            <a:r>
              <a:rPr b="1" lang="en-US" sz="3300" strike="noStrike" u="none">
                <a:solidFill>
                  <a:srgbClr val="b05cff"/>
                </a:solidFill>
                <a:uFillTx/>
                <a:latin typeface="Quicksand"/>
                <a:ea typeface="Quicksand"/>
              </a:rPr>
              <a:t>KEY DIFFERENCE</a:t>
            </a:r>
            <a:r>
              <a:rPr b="1" lang="en-US" sz="33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: List vs Tuple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5" name="Google Shape;466;p33"/>
          <p:cNvSpPr/>
          <p:nvPr/>
        </p:nvSpPr>
        <p:spPr>
          <a:xfrm>
            <a:off x="514440" y="1105200"/>
            <a:ext cx="17259120" cy="24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9eadc4"/>
                </a:solidFill>
                <a:uFillTx/>
                <a:latin typeface="Quicksand Medium"/>
                <a:ea typeface="Quicksand Medium"/>
              </a:rPr>
              <a:t>Both are ordered sequences. Mutability is the fundamental difference in memory and usage.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286" name="Google Shape;467;p33" descr="image.png"/>
          <p:cNvPicPr/>
          <p:nvPr/>
        </p:nvPicPr>
        <p:blipFill>
          <a:blip r:embed="rId7"/>
          <a:stretch/>
        </p:blipFill>
        <p:spPr>
          <a:xfrm>
            <a:off x="700200" y="8294040"/>
            <a:ext cx="1569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7" name="Google Shape;468;p33"/>
          <p:cNvSpPr/>
          <p:nvPr/>
        </p:nvSpPr>
        <p:spPr>
          <a:xfrm>
            <a:off x="971640" y="8272440"/>
            <a:ext cx="7357680" cy="48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Rule of Thumb: Use a </a:t>
            </a:r>
            <a:r>
              <a:rPr b="1" lang="en-US" sz="1600" strike="noStrike" u="none">
                <a:solidFill>
                  <a:srgbClr val="52e28b"/>
                </a:solidFill>
                <a:uFillTx/>
                <a:latin typeface="Quicksand"/>
                <a:ea typeface="Quicksand"/>
              </a:rPr>
              <a:t>LIST</a:t>
            </a:r>
            <a:r>
              <a:rPr b="1" lang="en-US" sz="16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when data changes. Use a </a:t>
            </a:r>
            <a:r>
              <a:rPr b="1" lang="en-US" sz="1600" strike="noStrike" u="none">
                <a:solidFill>
                  <a:srgbClr val="b05cff"/>
                </a:solidFill>
                <a:uFillTx/>
                <a:latin typeface="Quicksand"/>
                <a:ea typeface="Quicksand"/>
              </a:rPr>
              <a:t>TUPLE</a:t>
            </a:r>
            <a:r>
              <a:rPr b="1" lang="en-US" sz="16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when data should stay fixed.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8" name="Google Shape;469;p33"/>
          <p:cNvSpPr/>
          <p:nvPr/>
        </p:nvSpPr>
        <p:spPr>
          <a:xfrm>
            <a:off x="2864520" y="1662120"/>
            <a:ext cx="724392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89" name="Google Shape;470;p33"/>
          <p:cNvSpPr/>
          <p:nvPr/>
        </p:nvSpPr>
        <p:spPr>
          <a:xfrm>
            <a:off x="846360" y="6902280"/>
            <a:ext cx="441828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LIST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: [10, 20, 30] → [100, 20, 30]</a:t>
            </a:r>
            <a:br>
              <a:rPr sz="3000"/>
            </a:br>
            <a:r>
              <a:rPr b="0" lang="en-US" sz="1400" strike="noStrike" u="none">
                <a:solidFill>
                  <a:srgbClr val="52e28b"/>
                </a:solidFill>
                <a:uFillTx/>
                <a:latin typeface="Roboto Mono"/>
                <a:ea typeface="Roboto Mono"/>
              </a:rPr>
              <a:t>✓ element can change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0" name="Google Shape;471;p33"/>
          <p:cNvSpPr/>
          <p:nvPr/>
        </p:nvSpPr>
        <p:spPr>
          <a:xfrm>
            <a:off x="4572000" y="6902280"/>
            <a:ext cx="324360" cy="371160"/>
          </a:xfrm>
          <a:prstGeom prst="rect">
            <a:avLst/>
          </a:prstGeom>
          <a:solidFill>
            <a:srgbClr val="1e2d4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37160" rIns="137160" tIns="68400" bIns="684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1" name="Google Shape;472;p33"/>
          <p:cNvSpPr/>
          <p:nvPr/>
        </p:nvSpPr>
        <p:spPr>
          <a:xfrm>
            <a:off x="5550480" y="6902280"/>
            <a:ext cx="441864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b05cff"/>
                </a:solidFill>
                <a:uFillTx/>
                <a:latin typeface="Roboto Mono"/>
                <a:ea typeface="Roboto Mono"/>
              </a:rPr>
              <a:t>TUPLE</a:t>
            </a:r>
            <a:r>
              <a:rPr b="0" lang="en-US" sz="1400" strike="noStrike" u="none">
                <a:solidFill>
                  <a:srgbClr val="dce3ef"/>
                </a:solidFill>
                <a:uFillTx/>
                <a:latin typeface="Roboto Mono"/>
                <a:ea typeface="Roboto Mono"/>
              </a:rPr>
              <a:t>: (10, 20, 30) → (10, 20, 30)</a:t>
            </a:r>
            <a:br>
              <a:rPr sz="3000"/>
            </a:br>
            <a:r>
              <a:rPr b="0" lang="en-US" sz="140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🔒 element cannot be reassigned</a:t>
            </a: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graphicFrame>
        <p:nvGraphicFramePr>
          <p:cNvPr id="292" name="Google Shape;473;p33"/>
          <p:cNvGraphicFramePr/>
          <p:nvPr/>
        </p:nvGraphicFramePr>
        <p:xfrm>
          <a:off x="728640" y="2048040"/>
          <a:ext cx="8818560" cy="3782160"/>
        </p:xfrm>
        <a:graphic>
          <a:graphicData uri="http://schemas.openxmlformats.org/drawingml/2006/table">
            <a:tbl>
              <a:tblPr rtl="0" firstCol="0" lastCol="0" firstRow="1" lastRow="0" bandRow="1" bandCol="0"/>
              <a:tblGrid>
                <a:gridCol w="1933200"/>
                <a:gridCol w="3215520"/>
                <a:gridCol w="3669480"/>
              </a:tblGrid>
              <a:tr h="537840"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300" strike="noStrike" u="none">
                          <a:solidFill>
                            <a:srgbClr val="9eadc4"/>
                          </a:solidFill>
                          <a:uFillTx/>
                          <a:latin typeface="Quicksand"/>
                          <a:ea typeface="Quicksand"/>
                        </a:rPr>
                        <a:t>PROPERTY</a:t>
                      </a:r>
                      <a:endParaRPr b="0" lang="en-US" sz="13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trike="noStrike" u="none">
                          <a:solidFill>
                            <a:schemeClr val="dk1"/>
                          </a:solidFill>
                          <a:uFillTx/>
                          <a:latin typeface="Quicksand SemiBold"/>
                          <a:ea typeface="Quicksand SemiBold"/>
                        </a:rPr>
                        <a:t>LIST [ ]</a:t>
                      </a:r>
                      <a:endParaRPr b="0" lang="en-US" sz="11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chemeClr val="dk1"/>
                          </a:solidFill>
                          <a:uFillTx/>
                          <a:latin typeface="Quicksand SemiBold"/>
                          <a:ea typeface="Quicksand SemiBold"/>
                        </a:rPr>
                        <a:t>TUPLE ( )</a:t>
                      </a:r>
                      <a:endParaRPr b="0" lang="en-US" sz="140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0720"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Ordering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29988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Ordered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9988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29988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uFillTx/>
                          <a:latin typeface="Quicksand"/>
                          <a:ea typeface="Quicksand"/>
                        </a:rPr>
                        <a:t>Ordered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29988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40720"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Mutability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Mutable (Can change)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uFillTx/>
                          <a:latin typeface="Quicksand"/>
                          <a:ea typeface="Quicksand"/>
                        </a:rPr>
                        <a:t>Immutable (Cannot change)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540720"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Duplicates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Allowed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uFillTx/>
                          <a:latin typeface="Quicksand"/>
                          <a:ea typeface="Quicksand"/>
                        </a:rPr>
                        <a:t>Allowed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40720"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Indexing &amp; Slicing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Supported (0-indexed)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uFillTx/>
                          <a:latin typeface="Quicksand"/>
                          <a:ea typeface="Quicksand"/>
                        </a:rPr>
                        <a:t>Supported (0-indexed)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  <a:tr h="540720"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Dictionary Key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Cannot be dict keys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uFillTx/>
                          <a:latin typeface="Quicksand"/>
                          <a:ea typeface="Quicksand"/>
                        </a:rPr>
                        <a:t>Eligible if all elements hashable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540720"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Typical Use</a:t>
                      </a:r>
                      <a:endParaRPr b="0" lang="en-US" sz="14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600" strike="noStrike" u="none">
                          <a:solidFill>
                            <a:srgbClr val="000000"/>
                          </a:solidFill>
                          <a:uFillTx/>
                          <a:latin typeface="Quicksand"/>
                          <a:ea typeface="Quicksand"/>
                        </a:rPr>
                        <a:t>Changing / dynamic collections</a:t>
                      </a:r>
                      <a:endParaRPr b="0" lang="en-US" sz="16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 lIns="95040" rIns="95040" tIns="37800" bIns="378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500" strike="noStrike" u="none">
                          <a:solidFill>
                            <a:schemeClr val="dk1"/>
                          </a:solidFill>
                          <a:uFillTx/>
                          <a:latin typeface="Quicksand"/>
                          <a:ea typeface="Quicksand"/>
                        </a:rPr>
                        <a:t>Fixed records / protected collections</a:t>
                      </a:r>
                      <a:endParaRPr b="0" lang="en-US" sz="150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5040" marR="9504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293" name="Google Shape;474;p33"/>
          <p:cNvSpPr/>
          <p:nvPr/>
        </p:nvSpPr>
        <p:spPr>
          <a:xfrm>
            <a:off x="12701880" y="1819800"/>
            <a:ext cx="503136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 </a:t>
            </a:r>
            <a:r>
              <a:rPr b="1" lang="en-US" sz="2000" strike="noStrike" u="none">
                <a:solidFill>
                  <a:srgbClr val="ffffff"/>
                </a:solidFill>
                <a:uFillTx/>
                <a:latin typeface="Quicksand"/>
                <a:ea typeface="Quicksand"/>
              </a:rPr>
              <a:t>LIVE MUTATION TEST</a:t>
            </a: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4" name="Google Shape;475;p33"/>
          <p:cNvSpPr/>
          <p:nvPr/>
        </p:nvSpPr>
        <p:spPr>
          <a:xfrm>
            <a:off x="10129680" y="2309400"/>
            <a:ext cx="7603200" cy="20520"/>
          </a:xfrm>
          <a:prstGeom prst="rect">
            <a:avLst/>
          </a:prstGeom>
          <a:solidFill>
            <a:srgbClr val="364e7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3000" rIns="153000" tIns="10440" bIns="10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5" name="Google Shape;476;p33"/>
          <p:cNvSpPr/>
          <p:nvPr/>
        </p:nvSpPr>
        <p:spPr>
          <a:xfrm>
            <a:off x="10272960" y="2494440"/>
            <a:ext cx="73166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30" strike="noStrike" u="none">
                <a:solidFill>
                  <a:srgbClr val="52e28b"/>
                </a:solidFill>
                <a:uFillTx/>
                <a:latin typeface="Quicksand"/>
                <a:ea typeface="Quicksand"/>
              </a:rPr>
              <a:t>LIST: [10, 20, 30]</a:t>
            </a:r>
            <a:endParaRPr b="0" lang="en-US" sz="22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6" name="Google Shape;477;p33"/>
          <p:cNvSpPr/>
          <p:nvPr/>
        </p:nvSpPr>
        <p:spPr>
          <a:xfrm>
            <a:off x="10272960" y="3987000"/>
            <a:ext cx="7316640" cy="34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30" strike="noStrike" u="none">
                <a:solidFill>
                  <a:srgbClr val="ff687f"/>
                </a:solidFill>
                <a:uFillTx/>
                <a:latin typeface="Quicksand"/>
                <a:ea typeface="Quicksand"/>
              </a:rPr>
              <a:t>TUPLE: (10, 20, 30)</a:t>
            </a:r>
            <a:endParaRPr b="0" lang="en-US" sz="223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7" name="Google Shape;478;p33"/>
          <p:cNvSpPr/>
          <p:nvPr/>
        </p:nvSpPr>
        <p:spPr>
          <a:xfrm>
            <a:off x="10272960" y="5151240"/>
            <a:ext cx="7316640" cy="306720"/>
          </a:xfrm>
          <a:prstGeom prst="rect">
            <a:avLst/>
          </a:prstGeom>
          <a:solidFill>
            <a:srgbClr val="040e1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3000" rIns="153000" tIns="76320" bIns="76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8" name="Google Shape;479;p33"/>
          <p:cNvSpPr/>
          <p:nvPr/>
        </p:nvSpPr>
        <p:spPr>
          <a:xfrm>
            <a:off x="10352880" y="5192280"/>
            <a:ext cx="7157520" cy="17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10" strike="noStrike" u="none">
                <a:solidFill>
                  <a:srgbClr val="ff687f"/>
                </a:solidFill>
                <a:uFillTx/>
                <a:latin typeface="Roboto Mono"/>
                <a:ea typeface="Roboto Mono"/>
              </a:rPr>
              <a:t>TypeError: 'tuple' object does not support item assignment</a:t>
            </a:r>
            <a:endParaRPr b="0" lang="en-US" sz="111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9" name="Google Shape;480;p33"/>
          <p:cNvSpPr/>
          <p:nvPr/>
        </p:nvSpPr>
        <p:spPr>
          <a:xfrm>
            <a:off x="10272960" y="5151240"/>
            <a:ext cx="31320" cy="306720"/>
          </a:xfrm>
          <a:prstGeom prst="rect">
            <a:avLst/>
          </a:prstGeom>
          <a:solidFill>
            <a:srgbClr val="ff687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5480" rIns="15480" tIns="76320" bIns="763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00" name="Google Shape;481;p33" descr="image.png"/>
          <p:cNvPicPr/>
          <p:nvPr/>
        </p:nvPicPr>
        <p:blipFill>
          <a:blip r:embed="rId8"/>
          <a:stretch/>
        </p:blipFill>
        <p:spPr>
          <a:xfrm>
            <a:off x="10129680" y="1879920"/>
            <a:ext cx="214560" cy="26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1" name="Google Shape;482;p33" descr="image.png"/>
          <p:cNvPicPr/>
          <p:nvPr/>
        </p:nvPicPr>
        <p:blipFill>
          <a:blip r:embed="rId9"/>
          <a:stretch/>
        </p:blipFill>
        <p:spPr>
          <a:xfrm>
            <a:off x="16347960" y="2493360"/>
            <a:ext cx="1242000" cy="34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Google Shape;483;p33"/>
          <p:cNvSpPr/>
          <p:nvPr/>
        </p:nvSpPr>
        <p:spPr>
          <a:xfrm>
            <a:off x="10384560" y="3249720"/>
            <a:ext cx="66852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numbers</a:t>
            </a:r>
            <a:endParaRPr b="0" lang="en-US" sz="12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3" name="Google Shape;484;p33"/>
          <p:cNvSpPr/>
          <p:nvPr/>
        </p:nvSpPr>
        <p:spPr>
          <a:xfrm>
            <a:off x="11148840" y="3249720"/>
            <a:ext cx="9540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0</a:t>
            </a:r>
            <a:endParaRPr b="0" lang="en-US" sz="12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4" name="Google Shape;485;p33"/>
          <p:cNvSpPr/>
          <p:nvPr/>
        </p:nvSpPr>
        <p:spPr>
          <a:xfrm>
            <a:off x="11626560" y="3249720"/>
            <a:ext cx="2865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100</a:t>
            </a:r>
            <a:endParaRPr b="0" lang="en-US" sz="12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5" name="Google Shape;486;p33"/>
          <p:cNvSpPr/>
          <p:nvPr/>
        </p:nvSpPr>
        <p:spPr>
          <a:xfrm>
            <a:off x="12008880" y="3249720"/>
            <a:ext cx="219744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Result: [100, 20, 30]</a:t>
            </a:r>
            <a:endParaRPr b="0" lang="en-US" sz="12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06" name="Google Shape;487;p33" descr="image.png"/>
          <p:cNvPicPr/>
          <p:nvPr/>
        </p:nvPicPr>
        <p:blipFill>
          <a:blip r:embed="rId10"/>
          <a:stretch/>
        </p:blipFill>
        <p:spPr>
          <a:xfrm>
            <a:off x="16666560" y="3985920"/>
            <a:ext cx="923400" cy="347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Google Shape;488;p33"/>
          <p:cNvSpPr/>
          <p:nvPr/>
        </p:nvSpPr>
        <p:spPr>
          <a:xfrm>
            <a:off x="10384560" y="4742640"/>
            <a:ext cx="66852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27daef"/>
                </a:solidFill>
                <a:uFillTx/>
                <a:latin typeface="Roboto Mono"/>
                <a:ea typeface="Roboto Mono"/>
              </a:rPr>
              <a:t>numbers</a:t>
            </a:r>
            <a:endParaRPr b="0" lang="en-US" sz="12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8" name="Google Shape;489;p33"/>
          <p:cNvSpPr/>
          <p:nvPr/>
        </p:nvSpPr>
        <p:spPr>
          <a:xfrm>
            <a:off x="11148840" y="4742640"/>
            <a:ext cx="9540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0</a:t>
            </a:r>
            <a:endParaRPr b="0" lang="en-US" sz="12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9" name="Google Shape;490;p33"/>
          <p:cNvSpPr/>
          <p:nvPr/>
        </p:nvSpPr>
        <p:spPr>
          <a:xfrm>
            <a:off x="11626560" y="4742640"/>
            <a:ext cx="28656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20" strike="noStrike" u="none">
                <a:solidFill>
                  <a:srgbClr val="facf37"/>
                </a:solidFill>
                <a:uFillTx/>
                <a:latin typeface="Roboto Mono"/>
                <a:ea typeface="Roboto Mono"/>
              </a:rPr>
              <a:t>100</a:t>
            </a:r>
            <a:endParaRPr b="0" lang="en-US" sz="12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0" name="Google Shape;491;p33"/>
          <p:cNvSpPr/>
          <p:nvPr/>
        </p:nvSpPr>
        <p:spPr>
          <a:xfrm>
            <a:off x="12008880" y="4742640"/>
            <a:ext cx="1273680" cy="2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i="1" lang="en-US" sz="1220" strike="noStrike" u="none">
                <a:solidFill>
                  <a:srgbClr val="9eadc4"/>
                </a:solidFill>
                <a:uFillTx/>
                <a:latin typeface="Roboto Mono"/>
                <a:ea typeface="Roboto Mono"/>
              </a:rPr>
              <a:t># ✕ TypeError</a:t>
            </a:r>
            <a:endParaRPr b="0" lang="en-US" sz="122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11" name="Google Shape;492;p33" descr="image.png"/>
          <p:cNvPicPr/>
          <p:nvPr/>
        </p:nvPicPr>
        <p:blipFill>
          <a:blip r:embed="rId11"/>
          <a:stretch/>
        </p:blipFill>
        <p:spPr>
          <a:xfrm>
            <a:off x="16475400" y="2575080"/>
            <a:ext cx="127080" cy="183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Google Shape;493;p33" descr="image.png"/>
          <p:cNvPicPr/>
          <p:nvPr/>
        </p:nvPicPr>
        <p:blipFill>
          <a:blip r:embed="rId12"/>
          <a:stretch/>
        </p:blipFill>
        <p:spPr>
          <a:xfrm>
            <a:off x="16793640" y="4067640"/>
            <a:ext cx="127080" cy="183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498;p34"/>
          <p:cNvSpPr/>
          <p:nvPr/>
        </p:nvSpPr>
        <p:spPr>
          <a:xfrm>
            <a:off x="14139360" y="6656760"/>
            <a:ext cx="3614400" cy="21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Sets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ffffff"/>
              </a:buClr>
              <a:buFont typeface="Times New Roman"/>
              <a:buChar char="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Unordered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ffffff"/>
              </a:buClr>
              <a:buFont typeface="Times New Roman"/>
              <a:buChar char="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No Duplicate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ffffff"/>
              </a:buClr>
              <a:buFont typeface="Times New Roman"/>
              <a:buChar char="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Indexing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(NO)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4" name="Google Shape;499;p34"/>
          <p:cNvSpPr/>
          <p:nvPr/>
        </p:nvSpPr>
        <p:spPr>
          <a:xfrm>
            <a:off x="8521560" y="400680"/>
            <a:ext cx="1708920" cy="75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4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SETS</a:t>
            </a:r>
            <a:endParaRPr b="0" lang="en-US" sz="44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5" name="Google Shape;500;p34"/>
          <p:cNvSpPr/>
          <p:nvPr/>
        </p:nvSpPr>
        <p:spPr>
          <a:xfrm>
            <a:off x="957240" y="1501560"/>
            <a:ext cx="460620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Introduction to Sets 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6" name="Google Shape;501;p34"/>
          <p:cNvSpPr/>
          <p:nvPr/>
        </p:nvSpPr>
        <p:spPr>
          <a:xfrm>
            <a:off x="957240" y="2668320"/>
            <a:ext cx="9603720" cy="370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Sets in Python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Times New Roman"/>
              <a:buChar char="❖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Unordered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 collection of unique elements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buClr>
                <a:srgbClr val="ffffff"/>
              </a:buClr>
              <a:buFont typeface="Arial"/>
              <a:buChar char="❖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Created using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{ }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buClr>
                <a:srgbClr val="ffffff"/>
              </a:buClr>
              <a:buFont typeface="Times New Roman"/>
              <a:buChar char="❖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Duplicates values are removed automatically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buClr>
                <a:srgbClr val="ffffff"/>
              </a:buClr>
              <a:buFont typeface="Times New Roman"/>
              <a:buChar char="❖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Mutable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 — elements can be added or removed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buClr>
                <a:srgbClr val="ffffff"/>
              </a:buClr>
              <a:buFont typeface="Times New Roman"/>
              <a:buChar char="❖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Useful for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unique data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 &amp;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mathematical set operations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7" name="Google Shape;502;p34"/>
          <p:cNvSpPr/>
          <p:nvPr/>
        </p:nvSpPr>
        <p:spPr>
          <a:xfrm>
            <a:off x="957240" y="7066800"/>
            <a:ext cx="4353480" cy="1158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numbers = {1, 2, 3, 3, 4} 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print(numbers)</a:t>
            </a: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 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8" name="Google Shape;503;p34"/>
          <p:cNvSpPr/>
          <p:nvPr/>
        </p:nvSpPr>
        <p:spPr>
          <a:xfrm>
            <a:off x="957240" y="8716320"/>
            <a:ext cx="1886040" cy="11581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{1, 2, 3, 4} 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19" name="Google Shape;504;p34"/>
          <p:cNvSpPr/>
          <p:nvPr/>
        </p:nvSpPr>
        <p:spPr>
          <a:xfrm>
            <a:off x="11941920" y="5663520"/>
            <a:ext cx="219708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List vs Sets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0" name="Google Shape;505;p34"/>
          <p:cNvSpPr/>
          <p:nvPr/>
        </p:nvSpPr>
        <p:spPr>
          <a:xfrm>
            <a:off x="9978120" y="6656760"/>
            <a:ext cx="3869280" cy="213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List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ffffff"/>
              </a:buClr>
              <a:buFont typeface="Times New Roman"/>
              <a:buChar char="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Ordered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ffffff"/>
              </a:buClr>
              <a:buFont typeface="Times New Roman"/>
              <a:buChar char="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Support Duplicate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00000"/>
              </a:lnSpc>
              <a:buClr>
                <a:srgbClr val="ffffff"/>
              </a:buClr>
              <a:buFont typeface="Times New Roman"/>
              <a:buChar char="➢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Indexing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(YES)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21" name="Google Shape;506;p34" descr=""/>
          <p:cNvPicPr/>
          <p:nvPr/>
        </p:nvPicPr>
        <p:blipFill>
          <a:blip r:embed="rId1"/>
          <a:stretch/>
        </p:blipFill>
        <p:spPr>
          <a:xfrm>
            <a:off x="10795680" y="1501560"/>
            <a:ext cx="5366160" cy="362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511;p35"/>
          <p:cNvSpPr/>
          <p:nvPr/>
        </p:nvSpPr>
        <p:spPr>
          <a:xfrm>
            <a:off x="1126800" y="817920"/>
            <a:ext cx="6131520" cy="79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Creating &amp; Modifying Sets 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3" name="Google Shape;512;p35"/>
          <p:cNvSpPr/>
          <p:nvPr/>
        </p:nvSpPr>
        <p:spPr>
          <a:xfrm>
            <a:off x="1126800" y="1955880"/>
            <a:ext cx="26985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Creating a Set: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4" name="Google Shape;513;p35"/>
          <p:cNvSpPr/>
          <p:nvPr/>
        </p:nvSpPr>
        <p:spPr>
          <a:xfrm>
            <a:off x="1126800" y="2970000"/>
            <a:ext cx="6508440" cy="670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fruits = {"apple", "banana", "orange"}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5" name="Google Shape;514;p35"/>
          <p:cNvSpPr/>
          <p:nvPr/>
        </p:nvSpPr>
        <p:spPr>
          <a:xfrm>
            <a:off x="1126800" y="4092120"/>
            <a:ext cx="347256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Adding an Element: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6" name="Google Shape;515;p35"/>
          <p:cNvSpPr/>
          <p:nvPr/>
        </p:nvSpPr>
        <p:spPr>
          <a:xfrm>
            <a:off x="1126800" y="5214240"/>
            <a:ext cx="3591360" cy="670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fruits.add("mango")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7" name="Google Shape;516;p35"/>
          <p:cNvSpPr/>
          <p:nvPr/>
        </p:nvSpPr>
        <p:spPr>
          <a:xfrm>
            <a:off x="9163440" y="1955880"/>
            <a:ext cx="470268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Adding Multiple Elements: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8" name="Google Shape;517;p35"/>
          <p:cNvSpPr/>
          <p:nvPr/>
        </p:nvSpPr>
        <p:spPr>
          <a:xfrm>
            <a:off x="9163440" y="2970000"/>
            <a:ext cx="5456520" cy="670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fruits.update(["grapes", "kiwi"])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29" name="Google Shape;518;p35"/>
          <p:cNvSpPr/>
          <p:nvPr/>
        </p:nvSpPr>
        <p:spPr>
          <a:xfrm>
            <a:off x="9163440" y="3984480"/>
            <a:ext cx="4028040" cy="67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Removing an Element: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0" name="Google Shape;519;p35"/>
          <p:cNvSpPr/>
          <p:nvPr/>
        </p:nvSpPr>
        <p:spPr>
          <a:xfrm>
            <a:off x="9163440" y="5095080"/>
            <a:ext cx="4444920" cy="670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87480" rIns="87480"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  <a:ea typeface="Calibri"/>
              </a:rPr>
              <a:t>fruits.remove("banana")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1" name="Google Shape;520;p35"/>
          <p:cNvSpPr/>
          <p:nvPr/>
        </p:nvSpPr>
        <p:spPr>
          <a:xfrm>
            <a:off x="1126800" y="6552720"/>
            <a:ext cx="11429640" cy="313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Important points: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★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Sets do not allow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duplicate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values.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buClr>
                <a:srgbClr val="ffffff"/>
              </a:buClr>
              <a:buFont typeface="Arial"/>
              <a:buChar char="★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Sets are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unordered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, so indexing like set[0] is not supported.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buClr>
                <a:srgbClr val="ffffff"/>
              </a:buClr>
              <a:buFont typeface="Arial"/>
              <a:buChar char="★"/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discard()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 can also remove an element without raising an error if it doesn't exist.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2" name="Google Shape;521;p35"/>
          <p:cNvSpPr/>
          <p:nvPr/>
        </p:nvSpPr>
        <p:spPr>
          <a:xfrm>
            <a:off x="12755160" y="6552720"/>
            <a:ext cx="4806360" cy="16459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numbers = {1, 2, 3, 4}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numbers.discard(3)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print(numbers)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3" name="Google Shape;522;p35"/>
          <p:cNvSpPr/>
          <p:nvPr/>
        </p:nvSpPr>
        <p:spPr>
          <a:xfrm>
            <a:off x="12755160" y="8834760"/>
            <a:ext cx="1726200" cy="67032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{1, 2, 4}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527;p36"/>
          <p:cNvSpPr/>
          <p:nvPr/>
        </p:nvSpPr>
        <p:spPr>
          <a:xfrm>
            <a:off x="1128960" y="870840"/>
            <a:ext cx="357156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Set Operations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35" name="Google Shape;528;p36" descr=""/>
          <p:cNvPicPr/>
          <p:nvPr/>
        </p:nvPicPr>
        <p:blipFill>
          <a:blip r:embed="rId1"/>
          <a:stretch/>
        </p:blipFill>
        <p:spPr>
          <a:xfrm>
            <a:off x="1128960" y="2108520"/>
            <a:ext cx="10199160" cy="679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Google Shape;529;p36"/>
          <p:cNvSpPr/>
          <p:nvPr/>
        </p:nvSpPr>
        <p:spPr>
          <a:xfrm>
            <a:off x="12182040" y="2108520"/>
            <a:ext cx="5677200" cy="68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Advantages of Sets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Times New Roman"/>
              <a:buChar char="➔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Removes duplicates automatically.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buClr>
                <a:srgbClr val="ffffff"/>
              </a:buClr>
              <a:buFont typeface="Times New Roman"/>
              <a:buChar char="➔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Fast membership checking using in.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Disadvantages of Sets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Times New Roman"/>
              <a:buChar char="➔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No indexing or ordering like lists.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31640">
              <a:lnSpc>
                <a:spcPct val="115000"/>
              </a:lnSpc>
              <a:buClr>
                <a:srgbClr val="ffffff"/>
              </a:buClr>
              <a:buFont typeface="Times New Roman"/>
              <a:buChar char="➔"/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Can only store hashable (immutable) elements such as numbers, strings, and tuples.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534;p37"/>
          <p:cNvSpPr/>
          <p:nvPr/>
        </p:nvSpPr>
        <p:spPr>
          <a:xfrm>
            <a:off x="2035800" y="2302560"/>
            <a:ext cx="14416920" cy="521964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2880" tIns="182880" bIns="274320" anchor="t">
            <a:no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-&gt; A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dictionary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is a built-in data type in python.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-&gt; It stores key value pairs.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-&gt; Dictionaries are written using {}.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-&gt; Each key should be unique.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-&gt; Dictionaries are mutable, so their data can be changed.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-&gt; They are useful when data needs to be stored with a meaningful identifier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8" name="Google Shape;535;p37"/>
          <p:cNvSpPr/>
          <p:nvPr/>
        </p:nvSpPr>
        <p:spPr>
          <a:xfrm>
            <a:off x="6372720" y="1060560"/>
            <a:ext cx="5743440" cy="69228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DICTIONARIES IN PYTHON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39" name="Google Shape;536;p37" descr=""/>
          <p:cNvPicPr/>
          <p:nvPr/>
        </p:nvPicPr>
        <p:blipFill>
          <a:blip r:embed="rId1"/>
          <a:stretch/>
        </p:blipFill>
        <p:spPr>
          <a:xfrm>
            <a:off x="5038560" y="7641360"/>
            <a:ext cx="7958160" cy="1915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541;p38"/>
          <p:cNvSpPr/>
          <p:nvPr/>
        </p:nvSpPr>
        <p:spPr>
          <a:xfrm>
            <a:off x="747000" y="2676960"/>
            <a:ext cx="9771120" cy="641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114800" indent="457200">
              <a:lnSpc>
                <a:spcPct val="100000"/>
              </a:lnSpc>
              <a:tabLst>
                <a:tab algn="l" pos="0"/>
              </a:tabLst>
            </a:pP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    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Accessing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: values can be retrieved using their keys.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	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Adding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: New key-value pairs can be added.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	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Updating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: Existing values can be changed.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	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Removing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: Key-value pairs can be deleted.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     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</a:t>
            </a:r>
            <a:r>
              <a:rPr b="1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Checking </a:t>
            </a: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: We can check whether a particular key exists in a                     dictionary 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1" name="Google Shape;542;p38"/>
          <p:cNvSpPr/>
          <p:nvPr/>
        </p:nvSpPr>
        <p:spPr>
          <a:xfrm>
            <a:off x="5797440" y="1089360"/>
            <a:ext cx="6693120" cy="77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DICTIONARIES OPERATIONS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42" name="Google Shape;543;p38" descr=""/>
          <p:cNvPicPr/>
          <p:nvPr/>
        </p:nvPicPr>
        <p:blipFill>
          <a:blip r:embed="rId1"/>
          <a:stretch/>
        </p:blipFill>
        <p:spPr>
          <a:xfrm>
            <a:off x="10251360" y="4152960"/>
            <a:ext cx="7700760" cy="2886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548;p39"/>
          <p:cNvSpPr/>
          <p:nvPr/>
        </p:nvSpPr>
        <p:spPr>
          <a:xfrm>
            <a:off x="6479280" y="1015200"/>
            <a:ext cx="5328720" cy="85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Methods &amp; Applications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4" name="Google Shape;549;p39"/>
          <p:cNvSpPr/>
          <p:nvPr/>
        </p:nvSpPr>
        <p:spPr>
          <a:xfrm>
            <a:off x="920520" y="2417760"/>
            <a:ext cx="7706520" cy="669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keys() - returns all the keys.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values() - returns all the values.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items() - returns all the key-value pairs.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get() - safely retrieves a value.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update() - adds or modifies key-value         pairs.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just"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pop() - removes a specified key-values pair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45" name="Google Shape;550;p39"/>
          <p:cNvSpPr/>
          <p:nvPr/>
        </p:nvSpPr>
        <p:spPr>
          <a:xfrm>
            <a:off x="9879840" y="2158200"/>
            <a:ext cx="7590960" cy="721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Provides fast access to data using keys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Makes data easy to organize and understand.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Allows data to be modified easily.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It can store different types of values.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50000"/>
              </a:lnSpc>
              <a:tabLst>
                <a:tab algn="l" pos="0"/>
              </a:tabLst>
            </a:pPr>
            <a:r>
              <a:rPr b="0" lang="en-US" sz="3200" strike="noStrike" u="none">
                <a:solidFill>
                  <a:schemeClr val="lt1"/>
                </a:solidFill>
                <a:uFillTx/>
                <a:latin typeface="Comfortaa Light"/>
                <a:ea typeface="Comfortaa Light"/>
              </a:rPr>
              <a:t>-&gt; Useful for representing structured information.</a:t>
            </a:r>
            <a:endParaRPr b="0" lang="en-US" sz="3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555;p40"/>
          <p:cNvSpPr/>
          <p:nvPr/>
        </p:nvSpPr>
        <p:spPr>
          <a:xfrm>
            <a:off x="-85680" y="1424880"/>
            <a:ext cx="18287640" cy="9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endParaRPr b="0" lang="en-US" sz="2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400"/>
              </a:spcBef>
              <a:tabLst>
                <a:tab algn="l" pos="0"/>
              </a:tabLst>
            </a:pPr>
            <a:endParaRPr b="0" lang="en-US" sz="1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47" name="Google Shape;556;p40" descr="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561;p41" descr=""/>
          <p:cNvPicPr/>
          <p:nvPr/>
        </p:nvPicPr>
        <p:blipFill>
          <a:blip r:embed="rId1"/>
          <a:stretch/>
        </p:blipFill>
        <p:spPr>
          <a:xfrm>
            <a:off x="0" y="119880"/>
            <a:ext cx="18287640" cy="887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9" name="Google Shape;566;p42" descr=""/>
          <p:cNvPicPr/>
          <p:nvPr/>
        </p:nvPicPr>
        <p:blipFill>
          <a:blip r:embed="rId1"/>
          <a:stretch/>
        </p:blipFill>
        <p:spPr>
          <a:xfrm>
            <a:off x="0" y="-156960"/>
            <a:ext cx="18287640" cy="1028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571;p43" descr=""/>
          <p:cNvPicPr/>
          <p:nvPr/>
        </p:nvPicPr>
        <p:blipFill>
          <a:blip r:embed="rId1"/>
          <a:stretch/>
        </p:blipFill>
        <p:spPr>
          <a:xfrm>
            <a:off x="0" y="0"/>
            <a:ext cx="18287640" cy="1028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576;p44" descr=""/>
          <p:cNvPicPr/>
          <p:nvPr/>
        </p:nvPicPr>
        <p:blipFill>
          <a:blip r:embed="rId1"/>
          <a:stretch/>
        </p:blipFill>
        <p:spPr>
          <a:xfrm>
            <a:off x="0" y="0"/>
            <a:ext cx="18287640" cy="1043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581;p45" descr=""/>
          <p:cNvPicPr/>
          <p:nvPr/>
        </p:nvPicPr>
        <p:blipFill>
          <a:blip r:embed="rId1"/>
          <a:stretch/>
        </p:blipFill>
        <p:spPr>
          <a:xfrm>
            <a:off x="152280" y="152280"/>
            <a:ext cx="18135360" cy="10161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586;p46"/>
          <p:cNvSpPr/>
          <p:nvPr/>
        </p:nvSpPr>
        <p:spPr>
          <a:xfrm>
            <a:off x="0" y="0"/>
            <a:ext cx="18287640" cy="19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7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Things Inside Things?!</a:t>
            </a:r>
            <a:endParaRPr b="0" lang="en-US" sz="4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i="1" lang="en-US" sz="6200" strike="noStrike" u="none">
                <a:solidFill>
                  <a:srgbClr val="00ffff"/>
                </a:solidFill>
                <a:uFillTx/>
                <a:latin typeface="Calibri"/>
                <a:ea typeface="Calibri"/>
              </a:rPr>
              <a:t>NESTED DATA STRUCTURES</a:t>
            </a:r>
            <a:endParaRPr b="0" lang="en-US" sz="6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4" name="Google Shape;587;p46"/>
          <p:cNvSpPr/>
          <p:nvPr/>
        </p:nvSpPr>
        <p:spPr>
          <a:xfrm>
            <a:off x="0" y="9313920"/>
            <a:ext cx="18287640" cy="97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0" i="1" lang="en-US" sz="3900" strike="noStrike" u="none">
                <a:solidFill>
                  <a:srgbClr val="00ffff"/>
                </a:solidFill>
                <a:uFillTx/>
                <a:latin typeface="Calibri"/>
                <a:ea typeface="Calibri"/>
              </a:rPr>
              <a:t>When one data structure contains another data structure inside it.</a:t>
            </a: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55" name="Google Shape;588;p46" descr=""/>
          <p:cNvPicPr/>
          <p:nvPr/>
        </p:nvPicPr>
        <p:blipFill>
          <a:blip r:embed="rId1"/>
          <a:stretch/>
        </p:blipFill>
        <p:spPr>
          <a:xfrm>
            <a:off x="152280" y="1951560"/>
            <a:ext cx="11619000" cy="720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Google Shape;589;p46"/>
          <p:cNvSpPr/>
          <p:nvPr/>
        </p:nvSpPr>
        <p:spPr>
          <a:xfrm>
            <a:off x="11911680" y="1979640"/>
            <a:ext cx="6516000" cy="691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9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Imagine a student record containing:</a:t>
            </a:r>
            <a:endParaRPr b="0" lang="en-US" sz="2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2920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9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Personal details</a:t>
            </a:r>
            <a:endParaRPr b="0" lang="en-US" sz="2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2920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9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Courses</a:t>
            </a:r>
            <a:endParaRPr b="0" lang="en-US" sz="2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12920">
              <a:lnSpc>
                <a:spcPct val="115000"/>
              </a:lnSpc>
              <a:buClr>
                <a:srgbClr val="ffffff"/>
              </a:buClr>
              <a:buFont typeface="Arial"/>
              <a:buChar char="●"/>
              <a:tabLst>
                <a:tab algn="l" pos="0"/>
              </a:tabLst>
            </a:pPr>
            <a:r>
              <a:rPr b="0" lang="en-US" sz="29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Scores</a:t>
            </a:r>
            <a:endParaRPr b="0" lang="en-US" sz="2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9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Instead of keeping everything separately: </a:t>
            </a:r>
            <a:r>
              <a:rPr b="1" lang="en-US" sz="27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LIST</a:t>
            </a:r>
            <a:endParaRPr b="0" lang="en-US" sz="2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7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↓</a:t>
            </a:r>
            <a:endParaRPr b="0" lang="en-US" sz="2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-US" sz="27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DICTIONARY — Student</a:t>
            </a:r>
            <a:endParaRPr b="0" lang="en-US" sz="2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7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↓</a:t>
            </a:r>
            <a:endParaRPr b="0" lang="en-US" sz="2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-US" sz="27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DICTIONARY — Courses</a:t>
            </a:r>
            <a:endParaRPr b="0" lang="en-US" sz="2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7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↓</a:t>
            </a:r>
            <a:endParaRPr b="0" lang="en-US" sz="2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tabLst>
                <a:tab algn="l" pos="0"/>
              </a:tabLst>
            </a:pPr>
            <a:r>
              <a:rPr b="1" lang="en-US" sz="27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KEY + VALUE — </a:t>
            </a:r>
            <a:r>
              <a:rPr b="1" lang="en-US" sz="2700" strike="noStrike" u="none">
                <a:solidFill>
                  <a:schemeClr val="lt1"/>
                </a:solidFill>
                <a:uFillTx/>
                <a:latin typeface="Roboto Mono"/>
                <a:ea typeface="Roboto Mono"/>
              </a:rPr>
              <a:t>"SQL": 88</a:t>
            </a:r>
            <a:r>
              <a:rPr b="0" lang="en-US" sz="27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</a:t>
            </a:r>
            <a:endParaRPr b="0" lang="en-US" sz="2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594;p47" descr=""/>
          <p:cNvPicPr/>
          <p:nvPr/>
        </p:nvPicPr>
        <p:blipFill>
          <a:blip r:embed="rId1"/>
          <a:stretch/>
        </p:blipFill>
        <p:spPr>
          <a:xfrm>
            <a:off x="1428840" y="0"/>
            <a:ext cx="15429960" cy="10286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599;p48"/>
          <p:cNvSpPr/>
          <p:nvPr/>
        </p:nvSpPr>
        <p:spPr>
          <a:xfrm>
            <a:off x="0" y="123120"/>
            <a:ext cx="18287640" cy="10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15000"/>
              </a:lnSpc>
              <a:spcBef>
                <a:spcPts val="2401"/>
              </a:spcBef>
              <a:spcAft>
                <a:spcPts val="601"/>
              </a:spcAft>
              <a:tabLst>
                <a:tab algn="l" pos="0"/>
              </a:tabLst>
            </a:pPr>
            <a:r>
              <a:rPr b="1" lang="en-US" sz="5000" strike="noStrike" u="none">
                <a:solidFill>
                  <a:srgbClr val="00ffff"/>
                </a:solidFill>
                <a:uFillTx/>
                <a:latin typeface="Arial"/>
                <a:ea typeface="Arial"/>
              </a:rPr>
              <a:t>Nested Challenge: Can You Trace the Data?</a:t>
            </a:r>
            <a:endParaRPr b="0" lang="en-US" sz="5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9" name="Google Shape;600;p48"/>
          <p:cNvSpPr/>
          <p:nvPr/>
        </p:nvSpPr>
        <p:spPr>
          <a:xfrm>
            <a:off x="770040" y="1334520"/>
            <a:ext cx="8783640" cy="8229240"/>
          </a:xfrm>
          <a:prstGeom prst="rect">
            <a:avLst/>
          </a:prstGeom>
          <a:solidFill>
            <a:srgbClr val="1155c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students = [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{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"name": "Arjun",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"courses": [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{"name": "Python", "score": 92},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{"name": "SQL", "score": 88}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]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},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{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"name": "Riya",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"courses": [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{"name": "Python", "score": 85},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{"name": "SQL", "score": 91}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]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   </a:t>
            </a: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}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3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]</a:t>
            </a:r>
            <a:endParaRPr b="0" lang="en-US" sz="3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0" name="Google Shape;601;p48"/>
          <p:cNvSpPr/>
          <p:nvPr/>
        </p:nvSpPr>
        <p:spPr>
          <a:xfrm>
            <a:off x="9831240" y="1706400"/>
            <a:ext cx="7237440" cy="8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1. What will this return?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1" name="Google Shape;602;p48"/>
          <p:cNvSpPr/>
          <p:nvPr/>
        </p:nvSpPr>
        <p:spPr>
          <a:xfrm>
            <a:off x="9769680" y="2556360"/>
            <a:ext cx="8346600" cy="88308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4000" strike="noStrike" u="none">
                <a:solidFill>
                  <a:schemeClr val="lt1"/>
                </a:solidFill>
                <a:uFillTx/>
                <a:latin typeface="Comic Sans MS"/>
                <a:ea typeface="Comic Sans MS"/>
              </a:rPr>
              <a:t>students[1]["courses"][0]["score"]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2" name="Google Shape;603;p48"/>
          <p:cNvSpPr/>
          <p:nvPr/>
        </p:nvSpPr>
        <p:spPr>
          <a:xfrm>
            <a:off x="9738720" y="6297840"/>
            <a:ext cx="8425800" cy="158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tabLst>
                <a:tab algn="l" pos="0"/>
              </a:tabLst>
            </a:pPr>
            <a:r>
              <a:rPr b="1" lang="en-US" sz="40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2. How would you access Riya's SQL score? </a:t>
            </a: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3" name="Google Shape;604;p48"/>
          <p:cNvSpPr/>
          <p:nvPr/>
        </p:nvSpPr>
        <p:spPr>
          <a:xfrm>
            <a:off x="9862200" y="3441960"/>
            <a:ext cx="551916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A)</a:t>
            </a:r>
            <a:r>
              <a:rPr b="0" lang="en-US" sz="3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88</a:t>
            </a: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B)</a:t>
            </a:r>
            <a:r>
              <a:rPr b="0" lang="en-US" sz="3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85 </a:t>
            </a: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C)</a:t>
            </a:r>
            <a:r>
              <a:rPr b="0" lang="en-US" sz="3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91</a:t>
            </a: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D)</a:t>
            </a:r>
            <a:r>
              <a:rPr b="0" lang="en-US" sz="3900" strike="noStrike" u="none">
                <a:solidFill>
                  <a:schemeClr val="lt1"/>
                </a:solidFill>
                <a:uFillTx/>
                <a:latin typeface="Arial"/>
                <a:ea typeface="Arial"/>
              </a:rPr>
              <a:t> Python </a:t>
            </a: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64" name="Google Shape;605;p48" descr=""/>
          <p:cNvPicPr/>
          <p:nvPr/>
        </p:nvPicPr>
        <p:blipFill>
          <a:blip r:embed="rId1"/>
          <a:stretch/>
        </p:blipFill>
        <p:spPr>
          <a:xfrm>
            <a:off x="911880" y="4509000"/>
            <a:ext cx="16463880" cy="753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610;p49"/>
          <p:cNvSpPr/>
          <p:nvPr/>
        </p:nvSpPr>
        <p:spPr>
          <a:xfrm>
            <a:off x="5110200" y="813600"/>
            <a:ext cx="8067240" cy="78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38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ITERATION AND MANIPULATION</a:t>
            </a:r>
            <a:endParaRPr b="0" lang="en-US" sz="3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6" name="Google Shape;611;p49"/>
          <p:cNvSpPr/>
          <p:nvPr/>
        </p:nvSpPr>
        <p:spPr>
          <a:xfrm>
            <a:off x="764640" y="1828800"/>
            <a:ext cx="17251920" cy="733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2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5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Iteration means repeating a set of instructions, usually using loops </a:t>
            </a:r>
            <a:endParaRPr b="0" lang="en-US" sz="2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5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and the loop changes checking if the condition is being given or not.</a:t>
            </a:r>
            <a:endParaRPr b="0" lang="en-US" sz="25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Python mainly has two types of loops: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380880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for loop → repeat for each item in a sequence 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380880">
              <a:lnSpc>
                <a:spcPct val="115000"/>
              </a:lnSpc>
              <a:spcBef>
                <a:spcPts val="1199"/>
              </a:spcBef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2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while loop → repeat while a condition is true</a:t>
            </a:r>
            <a:endParaRPr b="0" lang="en-US" sz="2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67" name="Google Shape;612;p49" descr=""/>
          <p:cNvPicPr/>
          <p:nvPr/>
        </p:nvPicPr>
        <p:blipFill>
          <a:blip r:embed="rId1"/>
          <a:stretch/>
        </p:blipFill>
        <p:spPr>
          <a:xfrm>
            <a:off x="12561480" y="2446200"/>
            <a:ext cx="5205600" cy="240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Google Shape;613;p49" descr=""/>
          <p:cNvPicPr/>
          <p:nvPr/>
        </p:nvPicPr>
        <p:blipFill>
          <a:blip r:embed="rId2"/>
          <a:stretch/>
        </p:blipFill>
        <p:spPr>
          <a:xfrm>
            <a:off x="12561480" y="5514480"/>
            <a:ext cx="5205600" cy="3209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618;p50"/>
          <p:cNvSpPr/>
          <p:nvPr/>
        </p:nvSpPr>
        <p:spPr>
          <a:xfrm>
            <a:off x="785520" y="684000"/>
            <a:ext cx="16981560" cy="856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1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                                                         </a:t>
            </a:r>
            <a:r>
              <a:rPr b="0" lang="en-US" sz="41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MANIPULATION</a:t>
            </a:r>
            <a:endParaRPr b="0" lang="en-US" sz="4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4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Manipulation means changing, modifying, adding, removing, or rearranging data. 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The functions used to manipulate are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25520">
              <a:lnSpc>
                <a:spcPct val="100000"/>
              </a:lnSpc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append( ) - This adds a additional value in the list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25520">
              <a:lnSpc>
                <a:spcPct val="100000"/>
              </a:lnSpc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insert( )- This adds a value but at the designated 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</a:t>
            </a: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place we allot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25520">
              <a:lnSpc>
                <a:spcPct val="100000"/>
              </a:lnSpc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remove( ) - This removes the value 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25520">
              <a:lnSpc>
                <a:spcPct val="100000"/>
              </a:lnSpc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pop( ) - This helps in the removing the value with the position value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70" name="Google Shape;619;p50" descr=""/>
          <p:cNvPicPr/>
          <p:nvPr/>
        </p:nvPicPr>
        <p:blipFill>
          <a:blip r:embed="rId1"/>
          <a:stretch/>
        </p:blipFill>
        <p:spPr>
          <a:xfrm>
            <a:off x="11679480" y="2615040"/>
            <a:ext cx="6241320" cy="5895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624;p51"/>
          <p:cNvSpPr/>
          <p:nvPr/>
        </p:nvSpPr>
        <p:spPr>
          <a:xfrm>
            <a:off x="631800" y="597600"/>
            <a:ext cx="17531640" cy="898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7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STRING MANIPULATION</a:t>
            </a:r>
            <a:endParaRPr b="0" lang="en-US" sz="4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9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 </a:t>
            </a: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The string values can be manipulated 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The functions used in the string manipulation are: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25520">
              <a:lnSpc>
                <a:spcPct val="100000"/>
              </a:lnSpc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</a:t>
            </a: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upper( ) - converts the string to uppercase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25520">
              <a:lnSpc>
                <a:spcPct val="100000"/>
              </a:lnSpc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</a:t>
            </a: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lower( ) - converts the string to lowercase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25520">
              <a:lnSpc>
                <a:spcPct val="100000"/>
              </a:lnSpc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</a:t>
            </a: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replace( ) - this is used to replace one word with another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marL="457200" indent="-425520">
              <a:lnSpc>
                <a:spcPct val="100000"/>
              </a:lnSpc>
              <a:buClr>
                <a:srgbClr val="ffffff"/>
              </a:buClr>
              <a:buFont typeface="Comfortaa"/>
              <a:buChar char="●"/>
              <a:tabLst>
                <a:tab algn="l" pos="0"/>
              </a:tabLst>
            </a:pP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</a:t>
            </a:r>
            <a:r>
              <a:rPr b="0" lang="en-US" sz="31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split ( ) - this is used to split the string based on the criteria given </a:t>
            </a:r>
            <a:endParaRPr b="0" lang="en-US" sz="3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9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 </a:t>
            </a:r>
            <a:endParaRPr b="0" lang="en-US" sz="3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72" name="Google Shape;625;p51" descr=""/>
          <p:cNvPicPr/>
          <p:nvPr/>
        </p:nvPicPr>
        <p:blipFill>
          <a:blip r:embed="rId1"/>
          <a:stretch/>
        </p:blipFill>
        <p:spPr>
          <a:xfrm>
            <a:off x="11266560" y="2172960"/>
            <a:ext cx="6465240" cy="4474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90d19"/>
            </a:gs>
            <a:gs pos="100000">
              <a:srgbClr val="002e6d"/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630;p52"/>
          <p:cNvSpPr/>
          <p:nvPr/>
        </p:nvSpPr>
        <p:spPr>
          <a:xfrm>
            <a:off x="704520" y="591120"/>
            <a:ext cx="16917120" cy="85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74" name="Google Shape;631;p52"/>
          <p:cNvSpPr/>
          <p:nvPr/>
        </p:nvSpPr>
        <p:spPr>
          <a:xfrm>
            <a:off x="831960" y="864720"/>
            <a:ext cx="17068320" cy="858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3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ITERATION AND MANIPULATION</a:t>
            </a:r>
            <a:endParaRPr b="0" lang="en-US" sz="4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3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 </a:t>
            </a:r>
            <a:endParaRPr b="0" lang="en-US" sz="4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The manipulation happens in the list and 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then the iteration happens from the 1st till 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the end of the list.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                     </a:t>
            </a: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Manipulation 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                        </a:t>
            </a: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Iteration 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                  </a:t>
            </a:r>
            <a:r>
              <a:rPr b="0" lang="en-US" sz="3400" strike="noStrike" u="none">
                <a:solidFill>
                  <a:schemeClr val="lt1"/>
                </a:solidFill>
                <a:uFillTx/>
                <a:latin typeface="Comfortaa"/>
                <a:ea typeface="Comfortaa"/>
              </a:rPr>
              <a:t>Values gets printed</a:t>
            </a:r>
            <a:endParaRPr b="0" lang="en-US" sz="34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300" strike="noStrike" u="none">
                <a:solidFill>
                  <a:schemeClr val="lt1"/>
                </a:solidFill>
                <a:uFillTx/>
                <a:latin typeface="Calibri"/>
                <a:ea typeface="Calibri"/>
              </a:rPr>
              <a:t>             </a:t>
            </a:r>
            <a:endParaRPr b="0" lang="en-US" sz="4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375" name="Google Shape;632;p52" descr=""/>
          <p:cNvPicPr/>
          <p:nvPr/>
        </p:nvPicPr>
        <p:blipFill>
          <a:blip r:embed="rId1"/>
          <a:stretch/>
        </p:blipFill>
        <p:spPr>
          <a:xfrm>
            <a:off x="11612160" y="2838600"/>
            <a:ext cx="6009480" cy="4638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Google Shape;633;p52"/>
          <p:cNvSpPr/>
          <p:nvPr/>
        </p:nvSpPr>
        <p:spPr>
          <a:xfrm>
            <a:off x="4853160" y="6665040"/>
            <a:ext cx="63720" cy="40392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>
            <a:solidFill>
              <a:srgbClr val="1f497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680" rIns="31680"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377" name="Google Shape;634;p52"/>
          <p:cNvCxnSpPr/>
          <p:nvPr/>
        </p:nvCxnSpPr>
        <p:spPr>
          <a:xfrm flipH="1">
            <a:off x="4884840" y="5659560"/>
            <a:ext cx="11160" cy="812880"/>
          </a:xfrm>
          <a:prstGeom prst="straightConnector1">
            <a:avLst/>
          </a:prstGeom>
          <a:ln w="9525">
            <a:solidFill>
              <a:srgbClr val="ffffff"/>
            </a:solidFill>
            <a:round/>
            <a:tailEnd len="med" type="triangle" w="med"/>
          </a:ln>
        </p:spPr>
      </p:cxnSp>
      <p:cxnSp>
        <p:nvCxnSpPr>
          <p:cNvPr id="378" name="Google Shape;635;p52"/>
          <p:cNvCxnSpPr/>
          <p:nvPr/>
        </p:nvCxnSpPr>
        <p:spPr>
          <a:xfrm>
            <a:off x="4885200" y="7068960"/>
            <a:ext cx="53640" cy="1008000"/>
          </a:xfrm>
          <a:prstGeom prst="straightConnector1">
            <a:avLst/>
          </a:prstGeom>
          <a:ln w="9525">
            <a:solidFill>
              <a:srgbClr val="ffffff"/>
            </a:solidFill>
            <a:round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LibreOfficeDev/24.8.7.2.0$Android_AARCH64 LibreOffice_project/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